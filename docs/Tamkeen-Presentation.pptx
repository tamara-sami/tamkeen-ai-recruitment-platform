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lvetica World" panose="020B0604020202020204" charset="-128"/>
      <p:regular r:id="rId10"/>
    </p:embeddedFont>
    <p:embeddedFont>
      <p:font typeface="Helvetica World Bold" panose="020B0604020202020204" charset="-128"/>
      <p:regular r:id="rId11"/>
    </p:embeddedFont>
    <p:embeddedFont>
      <p:font typeface="Canva Sans" panose="020B0604020202020204" charset="0"/>
      <p:regular r:id="rId12"/>
    </p:embeddedFont>
    <p:embeddedFont>
      <p:font typeface="Open Sans" panose="020B0606030504020204" pitchFamily="34" charset="0"/>
      <p:regular r:id="rId13"/>
    </p:embeddedFont>
    <p:embeddedFont>
      <p:font typeface="Open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8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23.svg"/><Relationship Id="rId5" Type="http://schemas.openxmlformats.org/officeDocument/2006/relationships/image" Target="../media/image39.png"/><Relationship Id="rId10" Type="http://schemas.openxmlformats.org/officeDocument/2006/relationships/image" Target="../media/image31.sv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19.svg"/><Relationship Id="rId5" Type="http://schemas.openxmlformats.org/officeDocument/2006/relationships/image" Target="../media/image47.png"/><Relationship Id="rId10" Type="http://schemas.openxmlformats.org/officeDocument/2006/relationships/image" Target="../media/image23.sv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52.pn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B5E">
                <a:alpha val="100000"/>
              </a:srgbClr>
            </a:gs>
            <a:gs pos="100000">
              <a:srgbClr val="09133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22726" y="8484272"/>
            <a:ext cx="5210205" cy="741998"/>
            <a:chOff x="0" y="0"/>
            <a:chExt cx="1372235" cy="1954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2235" cy="195423"/>
            </a:xfrm>
            <a:custGeom>
              <a:avLst/>
              <a:gdLst/>
              <a:ahLst/>
              <a:cxnLst/>
              <a:rect l="l" t="t" r="r" b="b"/>
              <a:pathLst>
                <a:path w="1372235" h="195423">
                  <a:moveTo>
                    <a:pt x="89155" y="0"/>
                  </a:moveTo>
                  <a:lnTo>
                    <a:pt x="1283080" y="0"/>
                  </a:lnTo>
                  <a:cubicBezTo>
                    <a:pt x="1332319" y="0"/>
                    <a:pt x="1372235" y="39916"/>
                    <a:pt x="1372235" y="89155"/>
                  </a:cubicBezTo>
                  <a:lnTo>
                    <a:pt x="1372235" y="106268"/>
                  </a:lnTo>
                  <a:cubicBezTo>
                    <a:pt x="1372235" y="155507"/>
                    <a:pt x="1332319" y="195423"/>
                    <a:pt x="1283080" y="195423"/>
                  </a:cubicBezTo>
                  <a:lnTo>
                    <a:pt x="89155" y="195423"/>
                  </a:lnTo>
                  <a:cubicBezTo>
                    <a:pt x="65510" y="195423"/>
                    <a:pt x="42833" y="186030"/>
                    <a:pt x="26113" y="169311"/>
                  </a:cubicBezTo>
                  <a:cubicBezTo>
                    <a:pt x="9393" y="152591"/>
                    <a:pt x="0" y="129914"/>
                    <a:pt x="0" y="106268"/>
                  </a:cubicBezTo>
                  <a:lnTo>
                    <a:pt x="0" y="89155"/>
                  </a:lnTo>
                  <a:cubicBezTo>
                    <a:pt x="0" y="39916"/>
                    <a:pt x="39916" y="0"/>
                    <a:pt x="8915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5000"/>
                  </a:srgbClr>
                </a:gs>
                <a:gs pos="100000">
                  <a:srgbClr val="FFFFFF">
                    <a:alpha val="50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72235" cy="233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197445" y="8911189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830371" y="1100979"/>
            <a:ext cx="6791382" cy="6791382"/>
          </a:xfrm>
          <a:custGeom>
            <a:avLst/>
            <a:gdLst/>
            <a:ahLst/>
            <a:cxnLst/>
            <a:rect l="l" t="t" r="r" b="b"/>
            <a:pathLst>
              <a:path w="6791382" h="6791382">
                <a:moveTo>
                  <a:pt x="0" y="0"/>
                </a:moveTo>
                <a:lnTo>
                  <a:pt x="6791382" y="0"/>
                </a:lnTo>
                <a:lnTo>
                  <a:pt x="6791382" y="6791382"/>
                </a:lnTo>
                <a:lnTo>
                  <a:pt x="0" y="6791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0057084" y="1028700"/>
            <a:ext cx="6377417" cy="637741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413455" y="1385071"/>
            <a:ext cx="6381276" cy="6381276"/>
          </a:xfrm>
          <a:custGeom>
            <a:avLst/>
            <a:gdLst/>
            <a:ahLst/>
            <a:cxnLst/>
            <a:rect l="l" t="t" r="r" b="b"/>
            <a:pathLst>
              <a:path w="6381276" h="6381276">
                <a:moveTo>
                  <a:pt x="0" y="0"/>
                </a:moveTo>
                <a:lnTo>
                  <a:pt x="6381275" y="0"/>
                </a:lnTo>
                <a:lnTo>
                  <a:pt x="6381275" y="6381276"/>
                </a:lnTo>
                <a:lnTo>
                  <a:pt x="0" y="63812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413455" y="1385071"/>
            <a:ext cx="5664676" cy="566467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 rot="-2700000">
            <a:off x="16766143" y="88695"/>
            <a:ext cx="3336258" cy="3327918"/>
          </a:xfrm>
          <a:custGeom>
            <a:avLst/>
            <a:gdLst/>
            <a:ahLst/>
            <a:cxnLst/>
            <a:rect l="l" t="t" r="r" b="b"/>
            <a:pathLst>
              <a:path w="3336258" h="3327918">
                <a:moveTo>
                  <a:pt x="0" y="0"/>
                </a:moveTo>
                <a:lnTo>
                  <a:pt x="3336259" y="0"/>
                </a:lnTo>
                <a:lnTo>
                  <a:pt x="3336259" y="3327917"/>
                </a:lnTo>
                <a:lnTo>
                  <a:pt x="0" y="3327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58689" y="327967"/>
            <a:ext cx="1477512" cy="1864620"/>
          </a:xfrm>
          <a:custGeom>
            <a:avLst/>
            <a:gdLst/>
            <a:ahLst/>
            <a:cxnLst/>
            <a:rect l="l" t="t" r="r" b="b"/>
            <a:pathLst>
              <a:path w="1477512" h="1864620">
                <a:moveTo>
                  <a:pt x="0" y="0"/>
                </a:moveTo>
                <a:lnTo>
                  <a:pt x="1477512" y="0"/>
                </a:lnTo>
                <a:lnTo>
                  <a:pt x="1477512" y="1864620"/>
                </a:lnTo>
                <a:lnTo>
                  <a:pt x="0" y="1864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993928" y="568876"/>
            <a:ext cx="3276265" cy="1382802"/>
          </a:xfrm>
          <a:custGeom>
            <a:avLst/>
            <a:gdLst/>
            <a:ahLst/>
            <a:cxnLst/>
            <a:rect l="l" t="t" r="r" b="b"/>
            <a:pathLst>
              <a:path w="3276265" h="1382802">
                <a:moveTo>
                  <a:pt x="0" y="0"/>
                </a:moveTo>
                <a:lnTo>
                  <a:pt x="3276265" y="0"/>
                </a:lnTo>
                <a:lnTo>
                  <a:pt x="3276265" y="1382802"/>
                </a:lnTo>
                <a:lnTo>
                  <a:pt x="0" y="13828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200150" y="8724900"/>
            <a:ext cx="4819650" cy="1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5"/>
              </a:lnSpc>
              <a:spcBef>
                <a:spcPct val="0"/>
              </a:spcBef>
            </a:pPr>
            <a:r>
              <a:rPr lang="en-US" sz="1239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Academic Year: 2025–2026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87616" y="8749544"/>
            <a:ext cx="3387169" cy="15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8"/>
              </a:lnSpc>
            </a:pPr>
            <a:r>
              <a:rPr lang="en-US" sz="124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Zain Mohammad, Tamara Sami, Ghazal Totah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22254" y="8749544"/>
            <a:ext cx="2714505" cy="15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8"/>
              </a:lnSpc>
            </a:pPr>
            <a:r>
              <a:rPr lang="en-US" sz="124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Prepared By: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45391" y="3592626"/>
            <a:ext cx="7949358" cy="300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16"/>
              </a:lnSpc>
            </a:pPr>
            <a:r>
              <a:rPr lang="en-US" sz="5316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TAMKEEN</a:t>
            </a:r>
          </a:p>
          <a:p>
            <a:pPr marL="0" lvl="0" indent="0" algn="l">
              <a:lnSpc>
                <a:spcPts val="5316"/>
              </a:lnSpc>
            </a:pPr>
            <a:r>
              <a:rPr lang="en-US" sz="5316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SKILL-BASED EMPLOYMENT PLATFORM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45391" y="2927678"/>
            <a:ext cx="4210301" cy="569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en-US" sz="432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0150" y="6753225"/>
            <a:ext cx="8153400" cy="20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59"/>
              </a:lnSpc>
              <a:spcBef>
                <a:spcPct val="0"/>
              </a:spcBef>
            </a:pPr>
            <a:r>
              <a:rPr lang="en-US" sz="1239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Supervised By: Dr. Sharif Makhadmeh, Dr. Malak Al Hassan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B5E">
                <a:alpha val="100000"/>
              </a:srgbClr>
            </a:gs>
            <a:gs pos="100000">
              <a:srgbClr val="09133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160047" y="8905754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2700000">
            <a:off x="7658536" y="1531563"/>
            <a:ext cx="2209843" cy="1807722"/>
          </a:xfrm>
          <a:custGeom>
            <a:avLst/>
            <a:gdLst/>
            <a:ahLst/>
            <a:cxnLst/>
            <a:rect l="l" t="t" r="r" b="b"/>
            <a:pathLst>
              <a:path w="2209843" h="1807722">
                <a:moveTo>
                  <a:pt x="0" y="0"/>
                </a:moveTo>
                <a:lnTo>
                  <a:pt x="2209843" y="0"/>
                </a:lnTo>
                <a:lnTo>
                  <a:pt x="2209843" y="1807723"/>
                </a:lnTo>
                <a:lnTo>
                  <a:pt x="0" y="18077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42421" b="-7366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023263" y="6993789"/>
            <a:ext cx="1391726" cy="1490484"/>
            <a:chOff x="0" y="0"/>
            <a:chExt cx="1855635" cy="1987311"/>
          </a:xfrm>
        </p:grpSpPr>
        <p:sp>
          <p:nvSpPr>
            <p:cNvPr id="8" name="Freeform 8"/>
            <p:cNvSpPr/>
            <p:nvPr/>
          </p:nvSpPr>
          <p:spPr>
            <a:xfrm>
              <a:off x="1561418" y="846859"/>
              <a:ext cx="292230" cy="293593"/>
            </a:xfrm>
            <a:custGeom>
              <a:avLst/>
              <a:gdLst/>
              <a:ahLst/>
              <a:cxnLst/>
              <a:rect l="l" t="t" r="r" b="b"/>
              <a:pathLst>
                <a:path w="292230" h="293593">
                  <a:moveTo>
                    <a:pt x="0" y="0"/>
                  </a:moveTo>
                  <a:lnTo>
                    <a:pt x="292230" y="0"/>
                  </a:lnTo>
                  <a:lnTo>
                    <a:pt x="292230" y="293593"/>
                  </a:lnTo>
                  <a:lnTo>
                    <a:pt x="0" y="293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66946" t="-280857" r="-147870" b="-6817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294367" cy="293593"/>
            </a:xfrm>
            <a:custGeom>
              <a:avLst/>
              <a:gdLst/>
              <a:ahLst/>
              <a:cxnLst/>
              <a:rect l="l" t="t" r="r" b="b"/>
              <a:pathLst>
                <a:path w="294367" h="293593">
                  <a:moveTo>
                    <a:pt x="0" y="0"/>
                  </a:moveTo>
                  <a:lnTo>
                    <a:pt x="294367" y="0"/>
                  </a:lnTo>
                  <a:lnTo>
                    <a:pt x="294367" y="293593"/>
                  </a:lnTo>
                  <a:lnTo>
                    <a:pt x="0" y="293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9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11713" t="-81960" r="-508791" b="-7409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780869" y="0"/>
              <a:ext cx="292128" cy="293593"/>
            </a:xfrm>
            <a:custGeom>
              <a:avLst/>
              <a:gdLst/>
              <a:ahLst/>
              <a:cxnLst/>
              <a:rect l="l" t="t" r="r" b="b"/>
              <a:pathLst>
                <a:path w="292128" h="293593">
                  <a:moveTo>
                    <a:pt x="0" y="0"/>
                  </a:moveTo>
                  <a:lnTo>
                    <a:pt x="292129" y="0"/>
                  </a:lnTo>
                  <a:lnTo>
                    <a:pt x="292129" y="293593"/>
                  </a:lnTo>
                  <a:lnTo>
                    <a:pt x="0" y="293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9999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544057" t="-64815" r="-279921" b="-7545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559500" y="0"/>
              <a:ext cx="293050" cy="293593"/>
            </a:xfrm>
            <a:custGeom>
              <a:avLst/>
              <a:gdLst/>
              <a:ahLst/>
              <a:cxnLst/>
              <a:rect l="l" t="t" r="r" b="b"/>
              <a:pathLst>
                <a:path w="293050" h="293593">
                  <a:moveTo>
                    <a:pt x="0" y="0"/>
                  </a:moveTo>
                  <a:lnTo>
                    <a:pt x="293049" y="0"/>
                  </a:lnTo>
                  <a:lnTo>
                    <a:pt x="293049" y="293593"/>
                  </a:lnTo>
                  <a:lnTo>
                    <a:pt x="0" y="293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9999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31852" t="-329849" r="-231447" b="-3259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693719"/>
              <a:ext cx="293593" cy="293593"/>
            </a:xfrm>
            <a:custGeom>
              <a:avLst/>
              <a:gdLst/>
              <a:ahLst/>
              <a:cxnLst/>
              <a:rect l="l" t="t" r="r" b="b"/>
              <a:pathLst>
                <a:path w="293593" h="293593">
                  <a:moveTo>
                    <a:pt x="0" y="0"/>
                  </a:moveTo>
                  <a:lnTo>
                    <a:pt x="293593" y="0"/>
                  </a:lnTo>
                  <a:lnTo>
                    <a:pt x="293593" y="293592"/>
                  </a:lnTo>
                  <a:lnTo>
                    <a:pt x="0" y="29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6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603968" t="-64500" r="-211846" b="-7513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560809" y="1693719"/>
              <a:ext cx="294826" cy="293593"/>
            </a:xfrm>
            <a:custGeom>
              <a:avLst/>
              <a:gdLst/>
              <a:ahLst/>
              <a:cxnLst/>
              <a:rect l="l" t="t" r="r" b="b"/>
              <a:pathLst>
                <a:path w="294826" h="293593">
                  <a:moveTo>
                    <a:pt x="0" y="0"/>
                  </a:moveTo>
                  <a:lnTo>
                    <a:pt x="294826" y="0"/>
                  </a:lnTo>
                  <a:lnTo>
                    <a:pt x="294826" y="293592"/>
                  </a:lnTo>
                  <a:lnTo>
                    <a:pt x="0" y="29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6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654973" t="-65264" r="-163084" b="-75665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780095" y="1693719"/>
              <a:ext cx="294212" cy="293593"/>
            </a:xfrm>
            <a:custGeom>
              <a:avLst/>
              <a:gdLst/>
              <a:ahLst/>
              <a:cxnLst/>
              <a:rect l="l" t="t" r="r" b="b"/>
              <a:pathLst>
                <a:path w="294212" h="293593">
                  <a:moveTo>
                    <a:pt x="0" y="0"/>
                  </a:moveTo>
                  <a:lnTo>
                    <a:pt x="294212" y="0"/>
                  </a:lnTo>
                  <a:lnTo>
                    <a:pt x="294212" y="293592"/>
                  </a:lnTo>
                  <a:lnTo>
                    <a:pt x="0" y="293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96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361649" t="-346209" r="-361815" b="-47838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846859"/>
              <a:ext cx="293593" cy="293593"/>
            </a:xfrm>
            <a:custGeom>
              <a:avLst/>
              <a:gdLst/>
              <a:ahLst/>
              <a:cxnLst/>
              <a:rect l="l" t="t" r="r" b="b"/>
              <a:pathLst>
                <a:path w="293593" h="293593">
                  <a:moveTo>
                    <a:pt x="0" y="0"/>
                  </a:moveTo>
                  <a:lnTo>
                    <a:pt x="293593" y="0"/>
                  </a:lnTo>
                  <a:lnTo>
                    <a:pt x="293593" y="293593"/>
                  </a:lnTo>
                  <a:lnTo>
                    <a:pt x="0" y="293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9999"/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486351" t="-588787" r="-82867" b="-985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80095" y="846859"/>
              <a:ext cx="294821" cy="293593"/>
            </a:xfrm>
            <a:custGeom>
              <a:avLst/>
              <a:gdLst/>
              <a:ahLst/>
              <a:cxnLst/>
              <a:rect l="l" t="t" r="r" b="b"/>
              <a:pathLst>
                <a:path w="294821" h="293593">
                  <a:moveTo>
                    <a:pt x="0" y="0"/>
                  </a:moveTo>
                  <a:lnTo>
                    <a:pt x="294821" y="0"/>
                  </a:lnTo>
                  <a:lnTo>
                    <a:pt x="294821" y="293593"/>
                  </a:lnTo>
                  <a:lnTo>
                    <a:pt x="0" y="293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9999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239773" t="-204054" r="-44521" b="-8184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652287" y="4548280"/>
            <a:ext cx="5580643" cy="411572"/>
          </a:xfrm>
          <a:custGeom>
            <a:avLst/>
            <a:gdLst/>
            <a:ahLst/>
            <a:cxnLst/>
            <a:rect l="l" t="t" r="r" b="b"/>
            <a:pathLst>
              <a:path w="5580643" h="411572">
                <a:moveTo>
                  <a:pt x="0" y="0"/>
                </a:moveTo>
                <a:lnTo>
                  <a:pt x="5580643" y="0"/>
                </a:lnTo>
                <a:lnTo>
                  <a:pt x="5580643" y="411573"/>
                </a:lnTo>
                <a:lnTo>
                  <a:pt x="0" y="4115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1652287" y="2696738"/>
            <a:ext cx="5580643" cy="1984486"/>
            <a:chOff x="0" y="0"/>
            <a:chExt cx="1340670" cy="4767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0670" cy="476744"/>
            </a:xfrm>
            <a:custGeom>
              <a:avLst/>
              <a:gdLst/>
              <a:ahLst/>
              <a:cxnLst/>
              <a:rect l="l" t="t" r="r" b="b"/>
              <a:pathLst>
                <a:path w="1340670" h="476744">
                  <a:moveTo>
                    <a:pt x="33295" y="0"/>
                  </a:moveTo>
                  <a:lnTo>
                    <a:pt x="1307375" y="0"/>
                  </a:lnTo>
                  <a:cubicBezTo>
                    <a:pt x="1325763" y="0"/>
                    <a:pt x="1340670" y="14907"/>
                    <a:pt x="1340670" y="33295"/>
                  </a:cubicBezTo>
                  <a:lnTo>
                    <a:pt x="1340670" y="443450"/>
                  </a:lnTo>
                  <a:cubicBezTo>
                    <a:pt x="1340670" y="461838"/>
                    <a:pt x="1325763" y="476744"/>
                    <a:pt x="1307375" y="476744"/>
                  </a:cubicBezTo>
                  <a:lnTo>
                    <a:pt x="33295" y="476744"/>
                  </a:lnTo>
                  <a:cubicBezTo>
                    <a:pt x="14907" y="476744"/>
                    <a:pt x="0" y="461838"/>
                    <a:pt x="0" y="443450"/>
                  </a:cubicBezTo>
                  <a:lnTo>
                    <a:pt x="0" y="33295"/>
                  </a:lnTo>
                  <a:cubicBezTo>
                    <a:pt x="0" y="14907"/>
                    <a:pt x="14907" y="0"/>
                    <a:pt x="33295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652287" y="7140589"/>
            <a:ext cx="5580643" cy="411572"/>
          </a:xfrm>
          <a:custGeom>
            <a:avLst/>
            <a:gdLst/>
            <a:ahLst/>
            <a:cxnLst/>
            <a:rect l="l" t="t" r="r" b="b"/>
            <a:pathLst>
              <a:path w="5580643" h="411572">
                <a:moveTo>
                  <a:pt x="0" y="0"/>
                </a:moveTo>
                <a:lnTo>
                  <a:pt x="5580643" y="0"/>
                </a:lnTo>
                <a:lnTo>
                  <a:pt x="5580643" y="411573"/>
                </a:lnTo>
                <a:lnTo>
                  <a:pt x="0" y="4115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1652287" y="5289047"/>
            <a:ext cx="5580643" cy="1984486"/>
            <a:chOff x="0" y="0"/>
            <a:chExt cx="1340670" cy="4767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40670" cy="476744"/>
            </a:xfrm>
            <a:custGeom>
              <a:avLst/>
              <a:gdLst/>
              <a:ahLst/>
              <a:cxnLst/>
              <a:rect l="l" t="t" r="r" b="b"/>
              <a:pathLst>
                <a:path w="1340670" h="476744">
                  <a:moveTo>
                    <a:pt x="33295" y="0"/>
                  </a:moveTo>
                  <a:lnTo>
                    <a:pt x="1307375" y="0"/>
                  </a:lnTo>
                  <a:cubicBezTo>
                    <a:pt x="1325763" y="0"/>
                    <a:pt x="1340670" y="14907"/>
                    <a:pt x="1340670" y="33295"/>
                  </a:cubicBezTo>
                  <a:lnTo>
                    <a:pt x="1340670" y="443450"/>
                  </a:lnTo>
                  <a:cubicBezTo>
                    <a:pt x="1340670" y="461838"/>
                    <a:pt x="1325763" y="476744"/>
                    <a:pt x="1307375" y="476744"/>
                  </a:cubicBezTo>
                  <a:lnTo>
                    <a:pt x="33295" y="476744"/>
                  </a:lnTo>
                  <a:cubicBezTo>
                    <a:pt x="14907" y="476744"/>
                    <a:pt x="0" y="461838"/>
                    <a:pt x="0" y="443450"/>
                  </a:cubicBezTo>
                  <a:lnTo>
                    <a:pt x="0" y="33295"/>
                  </a:lnTo>
                  <a:cubicBezTo>
                    <a:pt x="0" y="14907"/>
                    <a:pt x="14907" y="0"/>
                    <a:pt x="3329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191786" y="5699986"/>
            <a:ext cx="975205" cy="1338517"/>
          </a:xfrm>
          <a:custGeom>
            <a:avLst/>
            <a:gdLst/>
            <a:ahLst/>
            <a:cxnLst/>
            <a:rect l="l" t="t" r="r" b="b"/>
            <a:pathLst>
              <a:path w="975205" h="1338517">
                <a:moveTo>
                  <a:pt x="0" y="0"/>
                </a:moveTo>
                <a:lnTo>
                  <a:pt x="975205" y="0"/>
                </a:lnTo>
                <a:lnTo>
                  <a:pt x="975205" y="1338517"/>
                </a:lnTo>
                <a:lnTo>
                  <a:pt x="0" y="13385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2317635" y="3258299"/>
            <a:ext cx="753877" cy="983852"/>
          </a:xfrm>
          <a:custGeom>
            <a:avLst/>
            <a:gdLst/>
            <a:ahLst/>
            <a:cxnLst/>
            <a:rect l="l" t="t" r="r" b="b"/>
            <a:pathLst>
              <a:path w="753877" h="983852">
                <a:moveTo>
                  <a:pt x="0" y="0"/>
                </a:moveTo>
                <a:lnTo>
                  <a:pt x="753877" y="0"/>
                </a:lnTo>
                <a:lnTo>
                  <a:pt x="753877" y="983852"/>
                </a:lnTo>
                <a:lnTo>
                  <a:pt x="0" y="9838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4359801" y="1151135"/>
            <a:ext cx="1568783" cy="474303"/>
            <a:chOff x="0" y="0"/>
            <a:chExt cx="458223" cy="1385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119169" y="1151135"/>
            <a:ext cx="1706953" cy="474303"/>
            <a:chOff x="0" y="0"/>
            <a:chExt cx="498581" cy="1385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07391" y="1151135"/>
            <a:ext cx="1706953" cy="474303"/>
            <a:chOff x="0" y="0"/>
            <a:chExt cx="498581" cy="1385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gradFill>
                <a:gsLst>
                  <a:gs pos="0">
                    <a:srgbClr val="51D2DF">
                      <a:alpha val="100000"/>
                    </a:srgbClr>
                  </a:gs>
                  <a:gs pos="100000">
                    <a:srgbClr val="0F565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97445" y="2644974"/>
            <a:ext cx="6757116" cy="224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09"/>
              </a:lnSpc>
            </a:pPr>
            <a:r>
              <a:rPr lang="en-US" sz="906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PROBLEM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00150" y="5667375"/>
            <a:ext cx="6591300" cy="318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475"/>
              </a:lnSpc>
              <a:spcBef>
                <a:spcPct val="0"/>
              </a:spcBef>
            </a:pPr>
            <a:r>
              <a:rPr lang="en-US" sz="165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Most hiring decisions are based on CVs, which do not always reflect a candidate’s real skills and abilities. As a result, companies may spend a lot of time reviewing applications and still end up hiring mismatched candidates</a:t>
            </a:r>
          </a:p>
          <a:p>
            <a:pPr lvl="0">
              <a:lnSpc>
                <a:spcPts val="2475"/>
              </a:lnSpc>
              <a:spcBef>
                <a:spcPct val="0"/>
              </a:spcBef>
            </a:pPr>
            <a:endParaRPr lang="en-US" sz="165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>
              <a:lnSpc>
                <a:spcPts val="2475"/>
              </a:lnSpc>
              <a:spcBef>
                <a:spcPct val="0"/>
              </a:spcBef>
            </a:pPr>
            <a:r>
              <a:rPr lang="en-US" sz="165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Many students and fresh graduates also face difficulties finding training opportunities to gain practical experience before entering the job market.</a:t>
            </a:r>
          </a:p>
          <a:p>
            <a:pPr marL="0" lvl="0" indent="0" algn="l">
              <a:lnSpc>
                <a:spcPts val="2475"/>
              </a:lnSpc>
              <a:spcBef>
                <a:spcPct val="0"/>
              </a:spcBef>
            </a:pPr>
            <a:endParaRPr lang="en-US" sz="165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2475"/>
              </a:lnSpc>
              <a:spcBef>
                <a:spcPct val="0"/>
              </a:spcBef>
            </a:pPr>
            <a:r>
              <a:rPr lang="en-US" sz="165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These challenges inspired us to develop Tamkeen.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77900" y="3057525"/>
            <a:ext cx="3143250" cy="900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0"/>
              </a:lnSpc>
              <a:spcBef>
                <a:spcPct val="0"/>
              </a:spcBef>
            </a:pPr>
            <a:r>
              <a:rPr lang="en-US" sz="162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CVs do not accurately reflect real skills and abilities of candidates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677900" y="5695950"/>
            <a:ext cx="3143250" cy="98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1760" u="none" strike="noStrike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Students and graduates lack training opportunities for practical experience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060550" y="974766"/>
            <a:ext cx="3347196" cy="45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8"/>
              </a:lnSpc>
            </a:pPr>
            <a:r>
              <a:rPr lang="en-US" sz="26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TAMKEEN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60550" y="1395680"/>
            <a:ext cx="2743367" cy="32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4"/>
              </a:lnSpc>
            </a:pPr>
            <a:r>
              <a:rPr lang="en-US" sz="19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Skill-Based Employment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457456" y="1208838"/>
            <a:ext cx="1373472" cy="29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0"/>
              </a:lnSpc>
            </a:pPr>
            <a:r>
              <a:rPr lang="en-US" sz="17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About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208128" y="1208838"/>
            <a:ext cx="1529035" cy="29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0"/>
              </a:lnSpc>
            </a:pPr>
            <a:r>
              <a:rPr lang="en-US" sz="17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048414" y="1208838"/>
            <a:ext cx="1424907" cy="29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0"/>
              </a:lnSpc>
            </a:pPr>
            <a:r>
              <a:rPr lang="en-US" sz="17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6B6D2D4C-D453-C145-AA29-B89EEE3EF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9279" y="855718"/>
            <a:ext cx="886495" cy="886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B5E">
                <a:alpha val="100000"/>
              </a:srgbClr>
            </a:gs>
            <a:gs pos="100000">
              <a:srgbClr val="09133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5160047" y="8905754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97445" y="2471972"/>
            <a:ext cx="525953" cy="52595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7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37488" y="2624227"/>
            <a:ext cx="225039" cy="225039"/>
          </a:xfrm>
          <a:custGeom>
            <a:avLst/>
            <a:gdLst/>
            <a:ahLst/>
            <a:cxnLst/>
            <a:rect l="l" t="t" r="r" b="b"/>
            <a:pathLst>
              <a:path w="225039" h="225039">
                <a:moveTo>
                  <a:pt x="0" y="0"/>
                </a:moveTo>
                <a:lnTo>
                  <a:pt x="225039" y="0"/>
                </a:lnTo>
                <a:lnTo>
                  <a:pt x="225039" y="225039"/>
                </a:lnTo>
                <a:lnTo>
                  <a:pt x="0" y="22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867650" y="2343150"/>
            <a:ext cx="6762750" cy="224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07"/>
              </a:lnSpc>
              <a:spcBef>
                <a:spcPct val="0"/>
              </a:spcBef>
            </a:pPr>
            <a:r>
              <a:rPr lang="en-US" sz="906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3945" y="2499998"/>
            <a:ext cx="5324917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Skill Verification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7445" y="3219384"/>
            <a:ext cx="5944419" cy="22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4"/>
              </a:lnSpc>
            </a:pPr>
            <a:r>
              <a:rPr lang="en-US" sz="120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Validate real abilities through challenge-based assessments, not just CVs.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97445" y="4488687"/>
            <a:ext cx="525953" cy="52595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7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362903" y="4670909"/>
            <a:ext cx="173776" cy="161906"/>
          </a:xfrm>
          <a:custGeom>
            <a:avLst/>
            <a:gdLst/>
            <a:ahLst/>
            <a:cxnLst/>
            <a:rect l="l" t="t" r="r" b="b"/>
            <a:pathLst>
              <a:path w="173776" h="161906">
                <a:moveTo>
                  <a:pt x="0" y="0"/>
                </a:moveTo>
                <a:lnTo>
                  <a:pt x="173776" y="0"/>
                </a:lnTo>
                <a:lnTo>
                  <a:pt x="173776" y="161906"/>
                </a:lnTo>
                <a:lnTo>
                  <a:pt x="0" y="161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963945" y="4516714"/>
            <a:ext cx="5324917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AI-Powered Evaluation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7445" y="5236099"/>
            <a:ext cx="5793453" cy="22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4"/>
              </a:lnSpc>
            </a:pPr>
            <a:r>
              <a:rPr lang="en-US" sz="120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Gemini AI analyzes submissions for accurate, unbiased candidate scoring.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7445" y="6505403"/>
            <a:ext cx="525953" cy="52595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7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353781" y="6654245"/>
            <a:ext cx="192437" cy="237945"/>
          </a:xfrm>
          <a:custGeom>
            <a:avLst/>
            <a:gdLst/>
            <a:ahLst/>
            <a:cxnLst/>
            <a:rect l="l" t="t" r="r" b="b"/>
            <a:pathLst>
              <a:path w="192437" h="237945">
                <a:moveTo>
                  <a:pt x="0" y="0"/>
                </a:moveTo>
                <a:lnTo>
                  <a:pt x="192436" y="0"/>
                </a:lnTo>
                <a:lnTo>
                  <a:pt x="192436" y="237945"/>
                </a:lnTo>
                <a:lnTo>
                  <a:pt x="0" y="237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963945" y="6533429"/>
            <a:ext cx="5324917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Fair &amp; Secure Recruitment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7445" y="7252815"/>
            <a:ext cx="5944419" cy="22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4"/>
              </a:lnSpc>
            </a:pPr>
            <a:r>
              <a:rPr lang="en-US" sz="120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Browser proctoring ensures integrity while enabling better hiring decisions.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67651" y="5029200"/>
            <a:ext cx="8735628" cy="1863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084"/>
              </a:lnSpc>
              <a:spcBef>
                <a:spcPct val="0"/>
              </a:spcBef>
            </a:pPr>
            <a:r>
              <a:rPr lang="en-US" sz="138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solve the problems we mentioned, we developed Tamkeen.</a:t>
            </a:r>
          </a:p>
          <a:p>
            <a:pPr lvl="0">
              <a:lnSpc>
                <a:spcPts val="2084"/>
              </a:lnSpc>
              <a:spcBef>
                <a:spcPct val="0"/>
              </a:spcBef>
            </a:pPr>
            <a:r>
              <a:rPr lang="en-US" sz="138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Tamkeen is a platform that helps employers evaluate candidates based on their actual skills rather than only their CVs.</a:t>
            </a:r>
          </a:p>
          <a:p>
            <a:pPr lvl="0">
              <a:lnSpc>
                <a:spcPts val="2084"/>
              </a:lnSpc>
              <a:spcBef>
                <a:spcPct val="0"/>
              </a:spcBef>
            </a:pPr>
            <a:r>
              <a:rPr lang="en-US" sz="138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Candidates complete real challenges, and their submissions are evaluated using AI. In addition, the platform includes monitoring tools to ensure fairness during the assessment </a:t>
            </a:r>
            <a:r>
              <a:rPr lang="en-US" sz="138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process.This</a:t>
            </a:r>
            <a:r>
              <a:rPr lang="en-US" sz="138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helps companies make more accurate hiring decisions and gives job seekers a better opportunity to prove their abilities.</a:t>
            </a:r>
            <a:endParaRPr lang="en-US" sz="1389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060550" y="974766"/>
            <a:ext cx="3347196" cy="45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8"/>
              </a:lnSpc>
            </a:pPr>
            <a:r>
              <a:rPr lang="en-US" sz="26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TAMKEEN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60550" y="1405205"/>
            <a:ext cx="2743367" cy="2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54"/>
              </a:lnSpc>
            </a:pPr>
            <a:r>
              <a:rPr lang="en-US" sz="13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Skill-Based Employment</a:t>
            </a:r>
          </a:p>
        </p:txBody>
      </p:sp>
      <p:sp>
        <p:nvSpPr>
          <p:cNvPr id="47" name="Freeform 47"/>
          <p:cNvSpPr/>
          <p:nvPr/>
        </p:nvSpPr>
        <p:spPr>
          <a:xfrm rot="-5400000">
            <a:off x="6166950" y="-1281172"/>
            <a:ext cx="1922745" cy="3441154"/>
          </a:xfrm>
          <a:custGeom>
            <a:avLst/>
            <a:gdLst/>
            <a:ahLst/>
            <a:cxnLst/>
            <a:rect l="l" t="t" r="r" b="b"/>
            <a:pathLst>
              <a:path w="1922745" h="3441154">
                <a:moveTo>
                  <a:pt x="0" y="0"/>
                </a:moveTo>
                <a:lnTo>
                  <a:pt x="1922745" y="0"/>
                </a:lnTo>
                <a:lnTo>
                  <a:pt x="1922745" y="3441154"/>
                </a:lnTo>
                <a:lnTo>
                  <a:pt x="0" y="3441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 rot="-5400000">
            <a:off x="8776879" y="6992643"/>
            <a:ext cx="229733" cy="2042067"/>
          </a:xfrm>
          <a:custGeom>
            <a:avLst/>
            <a:gdLst/>
            <a:ahLst/>
            <a:cxnLst/>
            <a:rect l="l" t="t" r="r" b="b"/>
            <a:pathLst>
              <a:path w="229733" h="2042067">
                <a:moveTo>
                  <a:pt x="0" y="0"/>
                </a:moveTo>
                <a:lnTo>
                  <a:pt x="229733" y="0"/>
                </a:lnTo>
                <a:lnTo>
                  <a:pt x="229733" y="2042067"/>
                </a:lnTo>
                <a:lnTo>
                  <a:pt x="0" y="2042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16750276" y="2132437"/>
            <a:ext cx="2749378" cy="3570620"/>
          </a:xfrm>
          <a:custGeom>
            <a:avLst/>
            <a:gdLst/>
            <a:ahLst/>
            <a:cxnLst/>
            <a:rect l="l" t="t" r="r" b="b"/>
            <a:pathLst>
              <a:path w="2749378" h="3570620">
                <a:moveTo>
                  <a:pt x="0" y="0"/>
                </a:moveTo>
                <a:lnTo>
                  <a:pt x="2749378" y="0"/>
                </a:lnTo>
                <a:lnTo>
                  <a:pt x="2749378" y="3570621"/>
                </a:lnTo>
                <a:lnTo>
                  <a:pt x="0" y="3570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14255FAD-FC48-2840-EB32-869A275677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9279" y="855718"/>
            <a:ext cx="886495" cy="886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B5E">
                <a:alpha val="100000"/>
              </a:srgbClr>
            </a:gs>
            <a:gs pos="100000">
              <a:srgbClr val="09133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200150" y="5619750"/>
            <a:ext cx="3019425" cy="2239573"/>
            <a:chOff x="0" y="0"/>
            <a:chExt cx="695785" cy="5160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5785" cy="516079"/>
            </a:xfrm>
            <a:custGeom>
              <a:avLst/>
              <a:gdLst/>
              <a:ahLst/>
              <a:cxnLst/>
              <a:rect l="l" t="t" r="r" b="b"/>
              <a:pathLst>
                <a:path w="695785" h="516079">
                  <a:moveTo>
                    <a:pt x="64101" y="0"/>
                  </a:moveTo>
                  <a:lnTo>
                    <a:pt x="631684" y="0"/>
                  </a:lnTo>
                  <a:cubicBezTo>
                    <a:pt x="648685" y="0"/>
                    <a:pt x="664989" y="6753"/>
                    <a:pt x="677010" y="18775"/>
                  </a:cubicBezTo>
                  <a:cubicBezTo>
                    <a:pt x="689031" y="30796"/>
                    <a:pt x="695785" y="47100"/>
                    <a:pt x="695785" y="64101"/>
                  </a:cubicBezTo>
                  <a:lnTo>
                    <a:pt x="695785" y="451978"/>
                  </a:lnTo>
                  <a:cubicBezTo>
                    <a:pt x="695785" y="468978"/>
                    <a:pt x="689031" y="485283"/>
                    <a:pt x="677010" y="497304"/>
                  </a:cubicBezTo>
                  <a:cubicBezTo>
                    <a:pt x="664989" y="509325"/>
                    <a:pt x="648685" y="516079"/>
                    <a:pt x="631684" y="516079"/>
                  </a:cubicBezTo>
                  <a:lnTo>
                    <a:pt x="64101" y="516079"/>
                  </a:lnTo>
                  <a:cubicBezTo>
                    <a:pt x="28699" y="516079"/>
                    <a:pt x="0" y="487380"/>
                    <a:pt x="0" y="451978"/>
                  </a:cubicBezTo>
                  <a:lnTo>
                    <a:pt x="0" y="64101"/>
                  </a:lnTo>
                  <a:cubicBezTo>
                    <a:pt x="0" y="47100"/>
                    <a:pt x="6753" y="30796"/>
                    <a:pt x="18775" y="18775"/>
                  </a:cubicBezTo>
                  <a:cubicBezTo>
                    <a:pt x="30796" y="6753"/>
                    <a:pt x="47100" y="0"/>
                    <a:pt x="64101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95785" cy="554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10075" y="5619750"/>
            <a:ext cx="3019425" cy="2239573"/>
            <a:chOff x="0" y="0"/>
            <a:chExt cx="695785" cy="51607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5785" cy="516079"/>
            </a:xfrm>
            <a:custGeom>
              <a:avLst/>
              <a:gdLst/>
              <a:ahLst/>
              <a:cxnLst/>
              <a:rect l="l" t="t" r="r" b="b"/>
              <a:pathLst>
                <a:path w="695785" h="516079">
                  <a:moveTo>
                    <a:pt x="64101" y="0"/>
                  </a:moveTo>
                  <a:lnTo>
                    <a:pt x="631684" y="0"/>
                  </a:lnTo>
                  <a:cubicBezTo>
                    <a:pt x="648685" y="0"/>
                    <a:pt x="664989" y="6753"/>
                    <a:pt x="677010" y="18775"/>
                  </a:cubicBezTo>
                  <a:cubicBezTo>
                    <a:pt x="689031" y="30796"/>
                    <a:pt x="695785" y="47100"/>
                    <a:pt x="695785" y="64101"/>
                  </a:cubicBezTo>
                  <a:lnTo>
                    <a:pt x="695785" y="451978"/>
                  </a:lnTo>
                  <a:cubicBezTo>
                    <a:pt x="695785" y="468978"/>
                    <a:pt x="689031" y="485283"/>
                    <a:pt x="677010" y="497304"/>
                  </a:cubicBezTo>
                  <a:cubicBezTo>
                    <a:pt x="664989" y="509325"/>
                    <a:pt x="648685" y="516079"/>
                    <a:pt x="631684" y="516079"/>
                  </a:cubicBezTo>
                  <a:lnTo>
                    <a:pt x="64101" y="516079"/>
                  </a:lnTo>
                  <a:cubicBezTo>
                    <a:pt x="28699" y="516079"/>
                    <a:pt x="0" y="487380"/>
                    <a:pt x="0" y="451978"/>
                  </a:cubicBezTo>
                  <a:lnTo>
                    <a:pt x="0" y="64101"/>
                  </a:lnTo>
                  <a:cubicBezTo>
                    <a:pt x="0" y="47100"/>
                    <a:pt x="6753" y="30796"/>
                    <a:pt x="18775" y="18775"/>
                  </a:cubicBezTo>
                  <a:cubicBezTo>
                    <a:pt x="30796" y="6753"/>
                    <a:pt x="47100" y="0"/>
                    <a:pt x="641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540000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95785" cy="554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0" y="5619750"/>
            <a:ext cx="3019425" cy="2239573"/>
            <a:chOff x="0" y="0"/>
            <a:chExt cx="695785" cy="5160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5785" cy="516079"/>
            </a:xfrm>
            <a:custGeom>
              <a:avLst/>
              <a:gdLst/>
              <a:ahLst/>
              <a:cxnLst/>
              <a:rect l="l" t="t" r="r" b="b"/>
              <a:pathLst>
                <a:path w="695785" h="516079">
                  <a:moveTo>
                    <a:pt x="64101" y="0"/>
                  </a:moveTo>
                  <a:lnTo>
                    <a:pt x="631684" y="0"/>
                  </a:lnTo>
                  <a:cubicBezTo>
                    <a:pt x="648685" y="0"/>
                    <a:pt x="664989" y="6753"/>
                    <a:pt x="677010" y="18775"/>
                  </a:cubicBezTo>
                  <a:cubicBezTo>
                    <a:pt x="689031" y="30796"/>
                    <a:pt x="695785" y="47100"/>
                    <a:pt x="695785" y="64101"/>
                  </a:cubicBezTo>
                  <a:lnTo>
                    <a:pt x="695785" y="451978"/>
                  </a:lnTo>
                  <a:cubicBezTo>
                    <a:pt x="695785" y="468978"/>
                    <a:pt x="689031" y="485283"/>
                    <a:pt x="677010" y="497304"/>
                  </a:cubicBezTo>
                  <a:cubicBezTo>
                    <a:pt x="664989" y="509325"/>
                    <a:pt x="648685" y="516079"/>
                    <a:pt x="631684" y="516079"/>
                  </a:cubicBezTo>
                  <a:lnTo>
                    <a:pt x="64101" y="516079"/>
                  </a:lnTo>
                  <a:cubicBezTo>
                    <a:pt x="28699" y="516079"/>
                    <a:pt x="0" y="487380"/>
                    <a:pt x="0" y="451978"/>
                  </a:cubicBezTo>
                  <a:lnTo>
                    <a:pt x="0" y="64101"/>
                  </a:lnTo>
                  <a:cubicBezTo>
                    <a:pt x="0" y="47100"/>
                    <a:pt x="6753" y="30796"/>
                    <a:pt x="18775" y="18775"/>
                  </a:cubicBezTo>
                  <a:cubicBezTo>
                    <a:pt x="30796" y="6753"/>
                    <a:pt x="47100" y="0"/>
                    <a:pt x="64101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95785" cy="554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29925" y="5619750"/>
            <a:ext cx="3019425" cy="2239573"/>
            <a:chOff x="0" y="0"/>
            <a:chExt cx="695785" cy="5160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5785" cy="516079"/>
            </a:xfrm>
            <a:custGeom>
              <a:avLst/>
              <a:gdLst/>
              <a:ahLst/>
              <a:cxnLst/>
              <a:rect l="l" t="t" r="r" b="b"/>
              <a:pathLst>
                <a:path w="695785" h="516079">
                  <a:moveTo>
                    <a:pt x="64101" y="0"/>
                  </a:moveTo>
                  <a:lnTo>
                    <a:pt x="631684" y="0"/>
                  </a:lnTo>
                  <a:cubicBezTo>
                    <a:pt x="648685" y="0"/>
                    <a:pt x="664989" y="6753"/>
                    <a:pt x="677010" y="18775"/>
                  </a:cubicBezTo>
                  <a:cubicBezTo>
                    <a:pt x="689031" y="30796"/>
                    <a:pt x="695785" y="47100"/>
                    <a:pt x="695785" y="64101"/>
                  </a:cubicBezTo>
                  <a:lnTo>
                    <a:pt x="695785" y="451978"/>
                  </a:lnTo>
                  <a:cubicBezTo>
                    <a:pt x="695785" y="468978"/>
                    <a:pt x="689031" y="485283"/>
                    <a:pt x="677010" y="497304"/>
                  </a:cubicBezTo>
                  <a:cubicBezTo>
                    <a:pt x="664989" y="509325"/>
                    <a:pt x="648685" y="516079"/>
                    <a:pt x="631684" y="516079"/>
                  </a:cubicBezTo>
                  <a:lnTo>
                    <a:pt x="64101" y="516079"/>
                  </a:lnTo>
                  <a:cubicBezTo>
                    <a:pt x="28699" y="516079"/>
                    <a:pt x="0" y="487380"/>
                    <a:pt x="0" y="451978"/>
                  </a:cubicBezTo>
                  <a:lnTo>
                    <a:pt x="0" y="64101"/>
                  </a:lnTo>
                  <a:cubicBezTo>
                    <a:pt x="0" y="47100"/>
                    <a:pt x="6753" y="30796"/>
                    <a:pt x="18775" y="18775"/>
                  </a:cubicBezTo>
                  <a:cubicBezTo>
                    <a:pt x="30796" y="6753"/>
                    <a:pt x="47100" y="0"/>
                    <a:pt x="641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540000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95785" cy="554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039850" y="5619750"/>
            <a:ext cx="3019425" cy="2247900"/>
            <a:chOff x="0" y="0"/>
            <a:chExt cx="4025900" cy="2997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25900" cy="2997200"/>
            </a:xfrm>
            <a:custGeom>
              <a:avLst/>
              <a:gdLst/>
              <a:ahLst/>
              <a:cxnLst/>
              <a:rect l="l" t="t" r="r" b="b"/>
              <a:pathLst>
                <a:path w="4025900" h="2997200">
                  <a:moveTo>
                    <a:pt x="299720" y="0"/>
                  </a:moveTo>
                  <a:lnTo>
                    <a:pt x="3726180" y="0"/>
                  </a:lnTo>
                  <a:cubicBezTo>
                    <a:pt x="3805671" y="0"/>
                    <a:pt x="3881906" y="31578"/>
                    <a:pt x="3938114" y="87786"/>
                  </a:cubicBezTo>
                  <a:cubicBezTo>
                    <a:pt x="3994322" y="143994"/>
                    <a:pt x="4025900" y="220229"/>
                    <a:pt x="4025900" y="299720"/>
                  </a:cubicBezTo>
                  <a:lnTo>
                    <a:pt x="4025900" y="2697480"/>
                  </a:lnTo>
                  <a:cubicBezTo>
                    <a:pt x="4025900" y="2776971"/>
                    <a:pt x="3994322" y="2853206"/>
                    <a:pt x="3938114" y="2909414"/>
                  </a:cubicBezTo>
                  <a:cubicBezTo>
                    <a:pt x="3881906" y="2965622"/>
                    <a:pt x="3805671" y="2997200"/>
                    <a:pt x="3726180" y="2997200"/>
                  </a:cubicBezTo>
                  <a:lnTo>
                    <a:pt x="299720" y="2997200"/>
                  </a:lnTo>
                  <a:cubicBezTo>
                    <a:pt x="220229" y="2997200"/>
                    <a:pt x="143994" y="2965622"/>
                    <a:pt x="87786" y="2909414"/>
                  </a:cubicBezTo>
                  <a:cubicBezTo>
                    <a:pt x="31578" y="2853206"/>
                    <a:pt x="0" y="2776971"/>
                    <a:pt x="0" y="2697480"/>
                  </a:cubicBezTo>
                  <a:lnTo>
                    <a:pt x="0" y="299720"/>
                  </a:lnTo>
                  <a:cubicBezTo>
                    <a:pt x="0" y="134189"/>
                    <a:pt x="134189" y="0"/>
                    <a:pt x="29972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5400000"/>
            </a:gradFill>
            <a:ln w="28575" cap="sq">
              <a:solidFill>
                <a:srgbClr val="1A3A8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2624100" y="6340513"/>
            <a:ext cx="1156858" cy="1342136"/>
          </a:xfrm>
          <a:custGeom>
            <a:avLst/>
            <a:gdLst/>
            <a:ahLst/>
            <a:cxnLst/>
            <a:rect l="l" t="t" r="r" b="b"/>
            <a:pathLst>
              <a:path w="1156858" h="1342136">
                <a:moveTo>
                  <a:pt x="0" y="0"/>
                </a:moveTo>
                <a:lnTo>
                  <a:pt x="1156858" y="0"/>
                </a:lnTo>
                <a:lnTo>
                  <a:pt x="1156858" y="1342136"/>
                </a:lnTo>
                <a:lnTo>
                  <a:pt x="0" y="1342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7629249" y="6325191"/>
            <a:ext cx="1435896" cy="1372780"/>
          </a:xfrm>
          <a:custGeom>
            <a:avLst/>
            <a:gdLst/>
            <a:ahLst/>
            <a:cxnLst/>
            <a:rect l="l" t="t" r="r" b="b"/>
            <a:pathLst>
              <a:path w="1435896" h="1372780">
                <a:moveTo>
                  <a:pt x="0" y="0"/>
                </a:moveTo>
                <a:lnTo>
                  <a:pt x="1435896" y="0"/>
                </a:lnTo>
                <a:lnTo>
                  <a:pt x="1435896" y="1372780"/>
                </a:lnTo>
                <a:lnTo>
                  <a:pt x="0" y="137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4649842" y="5766539"/>
            <a:ext cx="917987" cy="1868675"/>
          </a:xfrm>
          <a:custGeom>
            <a:avLst/>
            <a:gdLst/>
            <a:ahLst/>
            <a:cxnLst/>
            <a:rect l="l" t="t" r="r" b="b"/>
            <a:pathLst>
              <a:path w="917987" h="1868675">
                <a:moveTo>
                  <a:pt x="0" y="0"/>
                </a:moveTo>
                <a:lnTo>
                  <a:pt x="917987" y="0"/>
                </a:lnTo>
                <a:lnTo>
                  <a:pt x="917987" y="1868675"/>
                </a:lnTo>
                <a:lnTo>
                  <a:pt x="0" y="1868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419225" y="5903369"/>
            <a:ext cx="889181" cy="1192756"/>
          </a:xfrm>
          <a:custGeom>
            <a:avLst/>
            <a:gdLst/>
            <a:ahLst/>
            <a:cxnLst/>
            <a:rect l="l" t="t" r="r" b="b"/>
            <a:pathLst>
              <a:path w="889181" h="1192756">
                <a:moveTo>
                  <a:pt x="0" y="0"/>
                </a:moveTo>
                <a:lnTo>
                  <a:pt x="889181" y="0"/>
                </a:lnTo>
                <a:lnTo>
                  <a:pt x="889181" y="1192756"/>
                </a:lnTo>
                <a:lnTo>
                  <a:pt x="0" y="1192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4039850" y="5649317"/>
            <a:ext cx="895350" cy="1200150"/>
          </a:xfrm>
          <a:custGeom>
            <a:avLst/>
            <a:gdLst/>
            <a:ahLst/>
            <a:cxnLst/>
            <a:rect l="l" t="t" r="r" b="b"/>
            <a:pathLst>
              <a:path w="895350" h="1200150">
                <a:moveTo>
                  <a:pt x="0" y="0"/>
                </a:moveTo>
                <a:lnTo>
                  <a:pt x="895350" y="0"/>
                </a:lnTo>
                <a:lnTo>
                  <a:pt x="89535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944558" y="2626621"/>
            <a:ext cx="8430978" cy="116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15"/>
              </a:lnSpc>
            </a:pPr>
            <a:r>
              <a:rPr lang="en-US" sz="90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USERS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02616" y="2566061"/>
            <a:ext cx="6956684" cy="9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6"/>
              </a:lnSpc>
            </a:pPr>
            <a:r>
              <a:rPr lang="en-US" sz="168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Tamkeen serves five key user roles, each with specialized tools and workflows designed to streamline the skill-based recruitment process.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38400" y="5972175"/>
            <a:ext cx="159067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Job Seeker</a:t>
            </a:r>
          </a:p>
          <a:p>
            <a:pPr marL="0" lvl="0" indent="0" algn="l">
              <a:lnSpc>
                <a:spcPts val="225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Completes challenges and showcases skills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58250" y="5972175"/>
            <a:ext cx="1590675" cy="1271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  <a:spcBef>
                <a:spcPct val="0"/>
              </a:spcBef>
            </a:pPr>
            <a:r>
              <a:rPr lang="en-US" sz="138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HR Manager</a:t>
            </a:r>
          </a:p>
          <a:p>
            <a:pPr marL="0" lvl="0" indent="0" algn="l">
              <a:lnSpc>
                <a:spcPts val="2070"/>
              </a:lnSpc>
              <a:spcBef>
                <a:spcPct val="0"/>
              </a:spcBef>
            </a:pPr>
            <a:r>
              <a:rPr lang="en-US" sz="138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Reviews candidates and makes hiring decisions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8325" y="6153150"/>
            <a:ext cx="1590675" cy="109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6"/>
              </a:lnSpc>
              <a:spcBef>
                <a:spcPct val="0"/>
              </a:spcBef>
            </a:pPr>
            <a:r>
              <a:rPr lang="en-US" sz="1497" u="none" strike="noStrike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Company Admin</a:t>
            </a:r>
          </a:p>
          <a:p>
            <a:pPr marL="0" lvl="0" indent="0" algn="l">
              <a:lnSpc>
                <a:spcPts val="2246"/>
              </a:lnSpc>
              <a:spcBef>
                <a:spcPct val="0"/>
              </a:spcBef>
            </a:pPr>
            <a:r>
              <a:rPr lang="en-US" sz="1497" u="none" strike="noStrike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Manages organization settings and staff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20425" y="5962650"/>
            <a:ext cx="1222675" cy="1200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4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Task Manager</a:t>
            </a:r>
          </a:p>
          <a:p>
            <a:pPr marL="0" lvl="0" indent="0" algn="l">
              <a:lnSpc>
                <a:spcPts val="194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Creates, manages, and evaluates challenges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161958" y="6739890"/>
            <a:ext cx="2638425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4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Training Manager</a:t>
            </a:r>
          </a:p>
          <a:p>
            <a:pPr marL="0" lvl="0" indent="0" algn="l">
              <a:lnSpc>
                <a:spcPts val="194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Manages training programs and learning opportunities</a:t>
            </a:r>
          </a:p>
        </p:txBody>
      </p:sp>
      <p:sp>
        <p:nvSpPr>
          <p:cNvPr id="35" name="Freeform 35"/>
          <p:cNvSpPr/>
          <p:nvPr/>
        </p:nvSpPr>
        <p:spPr>
          <a:xfrm>
            <a:off x="1197445" y="1062449"/>
            <a:ext cx="651675" cy="651675"/>
          </a:xfrm>
          <a:custGeom>
            <a:avLst/>
            <a:gdLst/>
            <a:ahLst/>
            <a:cxnLst/>
            <a:rect l="l" t="t" r="r" b="b"/>
            <a:pathLst>
              <a:path w="651675" h="651675">
                <a:moveTo>
                  <a:pt x="0" y="0"/>
                </a:moveTo>
                <a:lnTo>
                  <a:pt x="651675" y="0"/>
                </a:lnTo>
                <a:lnTo>
                  <a:pt x="651675" y="651675"/>
                </a:lnTo>
                <a:lnTo>
                  <a:pt x="0" y="651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2060550" y="974766"/>
            <a:ext cx="3347196" cy="45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8"/>
              </a:lnSpc>
            </a:pPr>
            <a:r>
              <a:rPr lang="en-US" sz="26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TAMKEEN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60550" y="1405205"/>
            <a:ext cx="2743367" cy="26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5"/>
              </a:lnSpc>
            </a:pPr>
            <a:r>
              <a:rPr lang="en-US" sz="16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Skill-Based Employment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BF4E702E-1378-4492-1596-1E2472950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9279" y="855718"/>
            <a:ext cx="886495" cy="8864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B5E">
                <a:alpha val="100000"/>
              </a:srgbClr>
            </a:gs>
            <a:gs pos="100000">
              <a:srgbClr val="09133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160047" y="8905754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964745" y="2204371"/>
            <a:ext cx="4038658" cy="2875629"/>
            <a:chOff x="0" y="0"/>
            <a:chExt cx="1063680" cy="7573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680" cy="757367"/>
            </a:xfrm>
            <a:custGeom>
              <a:avLst/>
              <a:gdLst/>
              <a:ahLst/>
              <a:cxnLst/>
              <a:rect l="l" t="t" r="r" b="b"/>
              <a:pathLst>
                <a:path w="1063680" h="757367">
                  <a:moveTo>
                    <a:pt x="67093" y="0"/>
                  </a:moveTo>
                  <a:lnTo>
                    <a:pt x="996586" y="0"/>
                  </a:lnTo>
                  <a:cubicBezTo>
                    <a:pt x="1033641" y="0"/>
                    <a:pt x="1063680" y="30039"/>
                    <a:pt x="1063680" y="67093"/>
                  </a:cubicBezTo>
                  <a:lnTo>
                    <a:pt x="1063680" y="690274"/>
                  </a:lnTo>
                  <a:cubicBezTo>
                    <a:pt x="1063680" y="727329"/>
                    <a:pt x="1033641" y="757367"/>
                    <a:pt x="996586" y="757367"/>
                  </a:cubicBezTo>
                  <a:lnTo>
                    <a:pt x="67093" y="757367"/>
                  </a:lnTo>
                  <a:cubicBezTo>
                    <a:pt x="30039" y="757367"/>
                    <a:pt x="0" y="727329"/>
                    <a:pt x="0" y="690274"/>
                  </a:cubicBezTo>
                  <a:lnTo>
                    <a:pt x="0" y="67093"/>
                  </a:lnTo>
                  <a:cubicBezTo>
                    <a:pt x="0" y="30039"/>
                    <a:pt x="30039" y="0"/>
                    <a:pt x="670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5725"/>
              <a:ext cx="1063680" cy="67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64745" y="5206144"/>
            <a:ext cx="4038658" cy="2875629"/>
            <a:chOff x="0" y="0"/>
            <a:chExt cx="1063680" cy="7573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3680" cy="757367"/>
            </a:xfrm>
            <a:custGeom>
              <a:avLst/>
              <a:gdLst/>
              <a:ahLst/>
              <a:cxnLst/>
              <a:rect l="l" t="t" r="r" b="b"/>
              <a:pathLst>
                <a:path w="1063680" h="757367">
                  <a:moveTo>
                    <a:pt x="67093" y="0"/>
                  </a:moveTo>
                  <a:lnTo>
                    <a:pt x="996586" y="0"/>
                  </a:lnTo>
                  <a:cubicBezTo>
                    <a:pt x="1033641" y="0"/>
                    <a:pt x="1063680" y="30039"/>
                    <a:pt x="1063680" y="67093"/>
                  </a:cubicBezTo>
                  <a:lnTo>
                    <a:pt x="1063680" y="690274"/>
                  </a:lnTo>
                  <a:cubicBezTo>
                    <a:pt x="1063680" y="727329"/>
                    <a:pt x="1033641" y="757367"/>
                    <a:pt x="996586" y="757367"/>
                  </a:cubicBezTo>
                  <a:lnTo>
                    <a:pt x="67093" y="757367"/>
                  </a:lnTo>
                  <a:cubicBezTo>
                    <a:pt x="30039" y="757367"/>
                    <a:pt x="0" y="727329"/>
                    <a:pt x="0" y="690274"/>
                  </a:cubicBezTo>
                  <a:lnTo>
                    <a:pt x="0" y="67093"/>
                  </a:lnTo>
                  <a:cubicBezTo>
                    <a:pt x="0" y="30039"/>
                    <a:pt x="30039" y="0"/>
                    <a:pt x="670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1D4E">
                    <a:alpha val="100000"/>
                  </a:srgbClr>
                </a:gs>
                <a:gs pos="100000">
                  <a:srgbClr val="111D4E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1063680" cy="67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94272" y="2204371"/>
            <a:ext cx="4038658" cy="2875629"/>
            <a:chOff x="0" y="0"/>
            <a:chExt cx="1063680" cy="7573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3680" cy="757367"/>
            </a:xfrm>
            <a:custGeom>
              <a:avLst/>
              <a:gdLst/>
              <a:ahLst/>
              <a:cxnLst/>
              <a:rect l="l" t="t" r="r" b="b"/>
              <a:pathLst>
                <a:path w="1063680" h="757367">
                  <a:moveTo>
                    <a:pt x="67093" y="0"/>
                  </a:moveTo>
                  <a:lnTo>
                    <a:pt x="996586" y="0"/>
                  </a:lnTo>
                  <a:cubicBezTo>
                    <a:pt x="1033641" y="0"/>
                    <a:pt x="1063680" y="30039"/>
                    <a:pt x="1063680" y="67093"/>
                  </a:cubicBezTo>
                  <a:lnTo>
                    <a:pt x="1063680" y="690274"/>
                  </a:lnTo>
                  <a:cubicBezTo>
                    <a:pt x="1063680" y="727329"/>
                    <a:pt x="1033641" y="757367"/>
                    <a:pt x="996586" y="757367"/>
                  </a:cubicBezTo>
                  <a:lnTo>
                    <a:pt x="67093" y="757367"/>
                  </a:lnTo>
                  <a:cubicBezTo>
                    <a:pt x="30039" y="757367"/>
                    <a:pt x="0" y="727329"/>
                    <a:pt x="0" y="690274"/>
                  </a:cubicBezTo>
                  <a:lnTo>
                    <a:pt x="0" y="67093"/>
                  </a:lnTo>
                  <a:cubicBezTo>
                    <a:pt x="0" y="30039"/>
                    <a:pt x="30039" y="0"/>
                    <a:pt x="670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1D4E">
                    <a:alpha val="100000"/>
                  </a:srgbClr>
                </a:gs>
                <a:gs pos="100000">
                  <a:srgbClr val="111D4E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5725"/>
              <a:ext cx="1063680" cy="67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94272" y="5206144"/>
            <a:ext cx="4038658" cy="2875629"/>
            <a:chOff x="0" y="0"/>
            <a:chExt cx="1063680" cy="75736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3680" cy="757367"/>
            </a:xfrm>
            <a:custGeom>
              <a:avLst/>
              <a:gdLst/>
              <a:ahLst/>
              <a:cxnLst/>
              <a:rect l="l" t="t" r="r" b="b"/>
              <a:pathLst>
                <a:path w="1063680" h="757367">
                  <a:moveTo>
                    <a:pt x="67093" y="0"/>
                  </a:moveTo>
                  <a:lnTo>
                    <a:pt x="996586" y="0"/>
                  </a:lnTo>
                  <a:cubicBezTo>
                    <a:pt x="1033641" y="0"/>
                    <a:pt x="1063680" y="30039"/>
                    <a:pt x="1063680" y="67093"/>
                  </a:cubicBezTo>
                  <a:lnTo>
                    <a:pt x="1063680" y="690274"/>
                  </a:lnTo>
                  <a:cubicBezTo>
                    <a:pt x="1063680" y="727329"/>
                    <a:pt x="1033641" y="757367"/>
                    <a:pt x="996586" y="757367"/>
                  </a:cubicBezTo>
                  <a:lnTo>
                    <a:pt x="67093" y="757367"/>
                  </a:lnTo>
                  <a:cubicBezTo>
                    <a:pt x="30039" y="757367"/>
                    <a:pt x="0" y="727329"/>
                    <a:pt x="0" y="690274"/>
                  </a:cubicBezTo>
                  <a:lnTo>
                    <a:pt x="0" y="67093"/>
                  </a:lnTo>
                  <a:cubicBezTo>
                    <a:pt x="0" y="30039"/>
                    <a:pt x="30039" y="0"/>
                    <a:pt x="6709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5725"/>
              <a:ext cx="1063680" cy="67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9444552" y="2466422"/>
            <a:ext cx="811768" cy="847876"/>
          </a:xfrm>
          <a:custGeom>
            <a:avLst/>
            <a:gdLst/>
            <a:ahLst/>
            <a:cxnLst/>
            <a:rect l="l" t="t" r="r" b="b"/>
            <a:pathLst>
              <a:path w="811768" h="847876">
                <a:moveTo>
                  <a:pt x="0" y="0"/>
                </a:moveTo>
                <a:lnTo>
                  <a:pt x="811768" y="0"/>
                </a:lnTo>
                <a:lnTo>
                  <a:pt x="811768" y="847876"/>
                </a:lnTo>
                <a:lnTo>
                  <a:pt x="0" y="84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3672058" y="2530846"/>
            <a:ext cx="810837" cy="810837"/>
          </a:xfrm>
          <a:custGeom>
            <a:avLst/>
            <a:gdLst/>
            <a:ahLst/>
            <a:cxnLst/>
            <a:rect l="l" t="t" r="r" b="b"/>
            <a:pathLst>
              <a:path w="810837" h="810837">
                <a:moveTo>
                  <a:pt x="0" y="0"/>
                </a:moveTo>
                <a:lnTo>
                  <a:pt x="810837" y="0"/>
                </a:lnTo>
                <a:lnTo>
                  <a:pt x="810837" y="810837"/>
                </a:lnTo>
                <a:lnTo>
                  <a:pt x="0" y="810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9434230" y="5449363"/>
            <a:ext cx="731468" cy="924661"/>
          </a:xfrm>
          <a:custGeom>
            <a:avLst/>
            <a:gdLst/>
            <a:ahLst/>
            <a:cxnLst/>
            <a:rect l="l" t="t" r="r" b="b"/>
            <a:pathLst>
              <a:path w="731468" h="924661">
                <a:moveTo>
                  <a:pt x="0" y="0"/>
                </a:moveTo>
                <a:lnTo>
                  <a:pt x="731468" y="0"/>
                </a:lnTo>
                <a:lnTo>
                  <a:pt x="731468" y="924661"/>
                </a:lnTo>
                <a:lnTo>
                  <a:pt x="0" y="924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604757" y="5502719"/>
            <a:ext cx="820819" cy="570469"/>
          </a:xfrm>
          <a:custGeom>
            <a:avLst/>
            <a:gdLst/>
            <a:ahLst/>
            <a:cxnLst/>
            <a:rect l="l" t="t" r="r" b="b"/>
            <a:pathLst>
              <a:path w="820819" h="570469">
                <a:moveTo>
                  <a:pt x="0" y="0"/>
                </a:moveTo>
                <a:lnTo>
                  <a:pt x="820819" y="0"/>
                </a:lnTo>
                <a:lnTo>
                  <a:pt x="820819" y="570470"/>
                </a:lnTo>
                <a:lnTo>
                  <a:pt x="0" y="570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197445" y="2644974"/>
            <a:ext cx="6431643" cy="224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09"/>
              </a:lnSpc>
            </a:pPr>
            <a:r>
              <a:rPr lang="en-US" sz="906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FEATURES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7445" y="5651604"/>
            <a:ext cx="6431643" cy="147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1"/>
              </a:lnSpc>
            </a:pPr>
            <a:r>
              <a:rPr lang="en-US" sz="19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Tamkeen delivers powerful capabilities designed to transform skill-based recruitment with AI-powered evaluation, secure assessments, and streamlined hiring workflows.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77083" y="4101493"/>
            <a:ext cx="3213981" cy="630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1705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Gemini AI analyzes submissions for accurate skill assessment.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77083" y="3560473"/>
            <a:ext cx="3213981" cy="40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9"/>
              </a:lnSpc>
            </a:pPr>
            <a:r>
              <a:rPr lang="en-US" sz="2286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AI-Assisted Evaluation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06611" y="4101493"/>
            <a:ext cx="3306001" cy="630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1705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Scannable profiles for quick candidate verification.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606611" y="3560473"/>
            <a:ext cx="3213981" cy="40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9"/>
              </a:lnSpc>
            </a:pPr>
            <a:r>
              <a:rPr lang="en-US" sz="2286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QR Candidate Profiles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77083" y="7112512"/>
            <a:ext cx="3213981" cy="630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1705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Real-time monitoring with MediaPipe face detection.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77083" y="6568777"/>
            <a:ext cx="3336674" cy="40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9"/>
              </a:lnSpc>
            </a:pPr>
            <a:r>
              <a:rPr lang="en-US" sz="2286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Browser Proctoring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06611" y="7112512"/>
            <a:ext cx="3213981" cy="630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1705">
                <a:solidFill>
                  <a:srgbClr val="F7F7F7"/>
                </a:solidFill>
                <a:latin typeface="Open Sans"/>
                <a:ea typeface="Open Sans"/>
                <a:cs typeface="Open Sans"/>
                <a:sym typeface="Open Sans"/>
              </a:rPr>
              <a:t>End-to-end recruitment process management.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06611" y="6568777"/>
            <a:ext cx="3213981" cy="40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9"/>
              </a:lnSpc>
            </a:pPr>
            <a:r>
              <a:rPr lang="en-US" sz="2286" b="1">
                <a:solidFill>
                  <a:srgbClr val="F7F7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Hiring Workflow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60550" y="974766"/>
            <a:ext cx="3347196" cy="456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8"/>
              </a:lnSpc>
            </a:pPr>
            <a:r>
              <a:rPr lang="en-US" sz="265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TAMKEEN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60550" y="1386155"/>
            <a:ext cx="2743367" cy="324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4"/>
              </a:lnSpc>
            </a:pPr>
            <a:r>
              <a:rPr lang="en-US" sz="18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Skill-Based Employment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D1252FFC-411F-C2C5-6696-7BC6EE533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9279" y="855718"/>
            <a:ext cx="886495" cy="886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B5E">
                <a:alpha val="100000"/>
              </a:srgbClr>
            </a:gs>
            <a:gs pos="100000">
              <a:srgbClr val="09133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160047" y="8905754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300894" y="2376215"/>
            <a:ext cx="3734343" cy="991776"/>
            <a:chOff x="0" y="0"/>
            <a:chExt cx="983531" cy="2612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00894" y="3826312"/>
            <a:ext cx="3734343" cy="991776"/>
            <a:chOff x="0" y="0"/>
            <a:chExt cx="983531" cy="2612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56212" y="2376215"/>
            <a:ext cx="3734343" cy="991776"/>
            <a:chOff x="0" y="0"/>
            <a:chExt cx="983531" cy="2612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00894" y="5287456"/>
            <a:ext cx="3734343" cy="991776"/>
            <a:chOff x="0" y="0"/>
            <a:chExt cx="983531" cy="2612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00894" y="6760769"/>
            <a:ext cx="3734343" cy="991776"/>
            <a:chOff x="0" y="0"/>
            <a:chExt cx="983531" cy="2612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498587" y="3826312"/>
            <a:ext cx="3734343" cy="991776"/>
            <a:chOff x="0" y="0"/>
            <a:chExt cx="983531" cy="2612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98587" y="5275288"/>
            <a:ext cx="3734343" cy="991776"/>
            <a:chOff x="0" y="0"/>
            <a:chExt cx="983531" cy="26120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498587" y="6736432"/>
            <a:ext cx="3734343" cy="991776"/>
            <a:chOff x="0" y="0"/>
            <a:chExt cx="983531" cy="26120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9589333" y="2578786"/>
            <a:ext cx="486975" cy="505645"/>
          </a:xfrm>
          <a:custGeom>
            <a:avLst/>
            <a:gdLst/>
            <a:ahLst/>
            <a:cxnLst/>
            <a:rect l="l" t="t" r="r" b="b"/>
            <a:pathLst>
              <a:path w="486975" h="505645">
                <a:moveTo>
                  <a:pt x="0" y="0"/>
                </a:moveTo>
                <a:lnTo>
                  <a:pt x="486976" y="0"/>
                </a:lnTo>
                <a:lnTo>
                  <a:pt x="486976" y="505645"/>
                </a:lnTo>
                <a:lnTo>
                  <a:pt x="0" y="505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9634157" y="4054639"/>
            <a:ext cx="414967" cy="520021"/>
          </a:xfrm>
          <a:custGeom>
            <a:avLst/>
            <a:gdLst/>
            <a:ahLst/>
            <a:cxnLst/>
            <a:rect l="l" t="t" r="r" b="b"/>
            <a:pathLst>
              <a:path w="414967" h="520021">
                <a:moveTo>
                  <a:pt x="0" y="0"/>
                </a:moveTo>
                <a:lnTo>
                  <a:pt x="414967" y="0"/>
                </a:lnTo>
                <a:lnTo>
                  <a:pt x="414967" y="520022"/>
                </a:lnTo>
                <a:lnTo>
                  <a:pt x="0" y="520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9504860" y="7051024"/>
            <a:ext cx="336780" cy="463841"/>
          </a:xfrm>
          <a:custGeom>
            <a:avLst/>
            <a:gdLst/>
            <a:ahLst/>
            <a:cxnLst/>
            <a:rect l="l" t="t" r="r" b="b"/>
            <a:pathLst>
              <a:path w="336780" h="463841">
                <a:moveTo>
                  <a:pt x="0" y="0"/>
                </a:moveTo>
                <a:lnTo>
                  <a:pt x="336780" y="0"/>
                </a:lnTo>
                <a:lnTo>
                  <a:pt x="336780" y="463841"/>
                </a:lnTo>
                <a:lnTo>
                  <a:pt x="0" y="463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771669" y="2590927"/>
            <a:ext cx="536942" cy="559741"/>
          </a:xfrm>
          <a:custGeom>
            <a:avLst/>
            <a:gdLst/>
            <a:ahLst/>
            <a:cxnLst/>
            <a:rect l="l" t="t" r="r" b="b"/>
            <a:pathLst>
              <a:path w="536942" h="559741">
                <a:moveTo>
                  <a:pt x="0" y="0"/>
                </a:moveTo>
                <a:lnTo>
                  <a:pt x="536942" y="0"/>
                </a:lnTo>
                <a:lnTo>
                  <a:pt x="536942" y="559741"/>
                </a:lnTo>
                <a:lnTo>
                  <a:pt x="0" y="559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Freeform 34"/>
          <p:cNvSpPr/>
          <p:nvPr/>
        </p:nvSpPr>
        <p:spPr>
          <a:xfrm>
            <a:off x="9531321" y="5564546"/>
            <a:ext cx="450936" cy="459244"/>
          </a:xfrm>
          <a:custGeom>
            <a:avLst/>
            <a:gdLst/>
            <a:ahLst/>
            <a:cxnLst/>
            <a:rect l="l" t="t" r="r" b="b"/>
            <a:pathLst>
              <a:path w="450936" h="459244">
                <a:moveTo>
                  <a:pt x="0" y="0"/>
                </a:moveTo>
                <a:lnTo>
                  <a:pt x="450936" y="0"/>
                </a:lnTo>
                <a:lnTo>
                  <a:pt x="450936" y="459244"/>
                </a:lnTo>
                <a:lnTo>
                  <a:pt x="0" y="459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3817045" y="4115267"/>
            <a:ext cx="397682" cy="455233"/>
          </a:xfrm>
          <a:custGeom>
            <a:avLst/>
            <a:gdLst/>
            <a:ahLst/>
            <a:cxnLst/>
            <a:rect l="l" t="t" r="r" b="b"/>
            <a:pathLst>
              <a:path w="397682" h="455233">
                <a:moveTo>
                  <a:pt x="0" y="0"/>
                </a:moveTo>
                <a:lnTo>
                  <a:pt x="397682" y="0"/>
                </a:lnTo>
                <a:lnTo>
                  <a:pt x="397682" y="455233"/>
                </a:lnTo>
                <a:lnTo>
                  <a:pt x="0" y="4552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3842198" y="5589273"/>
            <a:ext cx="395884" cy="294516"/>
          </a:xfrm>
          <a:custGeom>
            <a:avLst/>
            <a:gdLst/>
            <a:ahLst/>
            <a:cxnLst/>
            <a:rect l="l" t="t" r="r" b="b"/>
            <a:pathLst>
              <a:path w="395884" h="294516">
                <a:moveTo>
                  <a:pt x="0" y="0"/>
                </a:moveTo>
                <a:lnTo>
                  <a:pt x="395884" y="0"/>
                </a:lnTo>
                <a:lnTo>
                  <a:pt x="395884" y="294516"/>
                </a:lnTo>
                <a:lnTo>
                  <a:pt x="0" y="2945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3692697" y="7010252"/>
            <a:ext cx="642889" cy="497435"/>
          </a:xfrm>
          <a:custGeom>
            <a:avLst/>
            <a:gdLst/>
            <a:ahLst/>
            <a:cxnLst/>
            <a:rect l="l" t="t" r="r" b="b"/>
            <a:pathLst>
              <a:path w="642889" h="497435">
                <a:moveTo>
                  <a:pt x="0" y="0"/>
                </a:moveTo>
                <a:lnTo>
                  <a:pt x="642888" y="0"/>
                </a:lnTo>
                <a:lnTo>
                  <a:pt x="642888" y="497435"/>
                </a:lnTo>
                <a:lnTo>
                  <a:pt x="0" y="49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1197445" y="2543422"/>
            <a:ext cx="7332694" cy="1867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44"/>
              </a:lnSpc>
            </a:pPr>
            <a:r>
              <a:rPr lang="en-US" sz="75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TAMKEEN WORKS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97445" y="5805101"/>
            <a:ext cx="6674699" cy="95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61"/>
              </a:lnSpc>
            </a:pPr>
            <a:r>
              <a:rPr lang="en-US" sz="170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Tamkeen platform streamlines recruitment through a skill-based workflow that connects job seekers with employers via AI-powered assessments.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49754" y="2723136"/>
            <a:ext cx="2723367" cy="23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"/>
              </a:lnSpc>
              <a:spcBef>
                <a:spcPct val="0"/>
              </a:spcBef>
            </a:pPr>
            <a:r>
              <a:rPr lang="en-US" sz="142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Job Seeker Registration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249754" y="4173233"/>
            <a:ext cx="2723367" cy="23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"/>
              </a:lnSpc>
              <a:spcBef>
                <a:spcPct val="0"/>
              </a:spcBef>
            </a:pPr>
            <a:r>
              <a:rPr lang="en-US" sz="142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 Submission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150131" y="5677607"/>
            <a:ext cx="2723367" cy="23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"/>
              </a:lnSpc>
              <a:spcBef>
                <a:spcPct val="0"/>
              </a:spcBef>
            </a:pPr>
            <a:r>
              <a:rPr lang="en-US" sz="1422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Evaluation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982257" y="7172097"/>
            <a:ext cx="2723367" cy="23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"/>
              </a:lnSpc>
              <a:spcBef>
                <a:spcPct val="0"/>
              </a:spcBef>
            </a:pPr>
            <a:r>
              <a:rPr lang="en-US" sz="1422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Task Manager Review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367188" y="2756823"/>
            <a:ext cx="2723367" cy="23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"/>
              </a:lnSpc>
              <a:spcBef>
                <a:spcPct val="0"/>
              </a:spcBef>
            </a:pPr>
            <a:r>
              <a:rPr lang="en-US" sz="1422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HR Recommendation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405956" y="4173233"/>
            <a:ext cx="2723367" cy="23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"/>
              </a:lnSpc>
              <a:spcBef>
                <a:spcPct val="0"/>
              </a:spcBef>
            </a:pPr>
            <a:r>
              <a:rPr lang="en-US" sz="142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Shortlisting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405956" y="5580088"/>
            <a:ext cx="2723367" cy="23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"/>
              </a:lnSpc>
              <a:spcBef>
                <a:spcPct val="0"/>
              </a:spcBef>
            </a:pPr>
            <a:r>
              <a:rPr lang="en-US" sz="142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Interview Process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405956" y="7106265"/>
            <a:ext cx="1362856" cy="23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91"/>
              </a:lnSpc>
              <a:spcBef>
                <a:spcPct val="0"/>
              </a:spcBef>
            </a:pPr>
            <a:r>
              <a:rPr lang="en-US" sz="142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Hiring Decision</a:t>
            </a:r>
          </a:p>
        </p:txBody>
      </p:sp>
      <p:sp>
        <p:nvSpPr>
          <p:cNvPr id="48" name="Freeform 48"/>
          <p:cNvSpPr/>
          <p:nvPr/>
        </p:nvSpPr>
        <p:spPr>
          <a:xfrm>
            <a:off x="1197445" y="1062449"/>
            <a:ext cx="651675" cy="651675"/>
          </a:xfrm>
          <a:custGeom>
            <a:avLst/>
            <a:gdLst/>
            <a:ahLst/>
            <a:cxnLst/>
            <a:rect l="l" t="t" r="r" b="b"/>
            <a:pathLst>
              <a:path w="651675" h="651675">
                <a:moveTo>
                  <a:pt x="0" y="0"/>
                </a:moveTo>
                <a:lnTo>
                  <a:pt x="651675" y="0"/>
                </a:lnTo>
                <a:lnTo>
                  <a:pt x="651675" y="651675"/>
                </a:lnTo>
                <a:lnTo>
                  <a:pt x="0" y="651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2060550" y="974766"/>
            <a:ext cx="3347196" cy="45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8"/>
              </a:lnSpc>
            </a:pPr>
            <a:r>
              <a:rPr lang="en-US" sz="26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TAMKEEN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060550" y="1405205"/>
            <a:ext cx="2743367" cy="26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81"/>
              </a:lnSpc>
            </a:pPr>
            <a:r>
              <a:rPr lang="en-US" sz="155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Skill-Based Employment</a:t>
            </a:r>
          </a:p>
        </p:txBody>
      </p:sp>
      <p:sp>
        <p:nvSpPr>
          <p:cNvPr id="63" name="Freeform 63"/>
          <p:cNvSpPr/>
          <p:nvPr/>
        </p:nvSpPr>
        <p:spPr>
          <a:xfrm rot="-5400000">
            <a:off x="6166950" y="-1281172"/>
            <a:ext cx="1922745" cy="3441154"/>
          </a:xfrm>
          <a:custGeom>
            <a:avLst/>
            <a:gdLst/>
            <a:ahLst/>
            <a:cxnLst/>
            <a:rect l="l" t="t" r="r" b="b"/>
            <a:pathLst>
              <a:path w="1922745" h="3441154">
                <a:moveTo>
                  <a:pt x="0" y="0"/>
                </a:moveTo>
                <a:lnTo>
                  <a:pt x="1922745" y="0"/>
                </a:lnTo>
                <a:lnTo>
                  <a:pt x="1922745" y="3441154"/>
                </a:lnTo>
                <a:lnTo>
                  <a:pt x="0" y="3441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4" name="Group 64"/>
          <p:cNvGrpSpPr/>
          <p:nvPr/>
        </p:nvGrpSpPr>
        <p:grpSpPr>
          <a:xfrm>
            <a:off x="6763569" y="8153616"/>
            <a:ext cx="2085331" cy="330657"/>
            <a:chOff x="0" y="0"/>
            <a:chExt cx="2780441" cy="440876"/>
          </a:xfrm>
        </p:grpSpPr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B5E">
                <a:alpha val="100000"/>
              </a:srgbClr>
            </a:gs>
            <a:gs pos="100000">
              <a:srgbClr val="09133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5160047" y="8905754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300894" y="2376215"/>
            <a:ext cx="3734343" cy="991776"/>
            <a:chOff x="0" y="0"/>
            <a:chExt cx="983531" cy="2612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00894" y="3826312"/>
            <a:ext cx="3734343" cy="991776"/>
            <a:chOff x="0" y="0"/>
            <a:chExt cx="983531" cy="2612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98587" y="2376215"/>
            <a:ext cx="3734343" cy="991776"/>
            <a:chOff x="0" y="0"/>
            <a:chExt cx="983531" cy="2612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00894" y="5287456"/>
            <a:ext cx="3734343" cy="991776"/>
            <a:chOff x="0" y="0"/>
            <a:chExt cx="983531" cy="2612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00894" y="6760769"/>
            <a:ext cx="3734343" cy="991776"/>
            <a:chOff x="0" y="0"/>
            <a:chExt cx="983531" cy="2612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498587" y="3826312"/>
            <a:ext cx="3734343" cy="991776"/>
            <a:chOff x="0" y="0"/>
            <a:chExt cx="983531" cy="2612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498587" y="5275288"/>
            <a:ext cx="3734343" cy="991776"/>
            <a:chOff x="0" y="0"/>
            <a:chExt cx="983531" cy="2612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5BFF">
                    <a:alpha val="100000"/>
                  </a:srgbClr>
                </a:gs>
                <a:gs pos="100000">
                  <a:srgbClr val="0B1B5E">
                    <a:alpha val="100000"/>
                  </a:srgbClr>
                </a:gs>
              </a:gsLst>
              <a:lin ang="0"/>
            </a:gradFill>
            <a:ln w="28575" cap="rnd">
              <a:solidFill>
                <a:srgbClr val="1A3A8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498587" y="6736432"/>
            <a:ext cx="3734343" cy="991776"/>
            <a:chOff x="0" y="0"/>
            <a:chExt cx="983531" cy="26120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83531" cy="261209"/>
            </a:xfrm>
            <a:custGeom>
              <a:avLst/>
              <a:gdLst/>
              <a:ahLst/>
              <a:cxnLst/>
              <a:rect l="l" t="t" r="r" b="b"/>
              <a:pathLst>
                <a:path w="983531" h="261209">
                  <a:moveTo>
                    <a:pt x="51829" y="0"/>
                  </a:moveTo>
                  <a:lnTo>
                    <a:pt x="931701" y="0"/>
                  </a:lnTo>
                  <a:cubicBezTo>
                    <a:pt x="945447" y="0"/>
                    <a:pt x="958630" y="5461"/>
                    <a:pt x="968350" y="15180"/>
                  </a:cubicBezTo>
                  <a:cubicBezTo>
                    <a:pt x="978070" y="24900"/>
                    <a:pt x="983531" y="38083"/>
                    <a:pt x="983531" y="51829"/>
                  </a:cubicBezTo>
                  <a:lnTo>
                    <a:pt x="983531" y="209379"/>
                  </a:lnTo>
                  <a:cubicBezTo>
                    <a:pt x="983531" y="238004"/>
                    <a:pt x="960326" y="261209"/>
                    <a:pt x="931701" y="261209"/>
                  </a:cubicBezTo>
                  <a:lnTo>
                    <a:pt x="51829" y="261209"/>
                  </a:lnTo>
                  <a:cubicBezTo>
                    <a:pt x="23205" y="261209"/>
                    <a:pt x="0" y="238004"/>
                    <a:pt x="0" y="209379"/>
                  </a:cubicBezTo>
                  <a:lnTo>
                    <a:pt x="0" y="51829"/>
                  </a:lnTo>
                  <a:cubicBezTo>
                    <a:pt x="0" y="23205"/>
                    <a:pt x="23205" y="0"/>
                    <a:pt x="51829" y="0"/>
                  </a:cubicBezTo>
                  <a:close/>
                </a:path>
              </a:pathLst>
            </a:custGeom>
            <a:solidFill>
              <a:srgbClr val="111D4E"/>
            </a:solidFill>
            <a:ln w="28575" cap="rnd">
              <a:solidFill>
                <a:srgbClr val="0D5B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83531" cy="2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9626305" y="2642219"/>
            <a:ext cx="413003" cy="493656"/>
          </a:xfrm>
          <a:custGeom>
            <a:avLst/>
            <a:gdLst/>
            <a:ahLst/>
            <a:cxnLst/>
            <a:rect l="l" t="t" r="r" b="b"/>
            <a:pathLst>
              <a:path w="413003" h="493656">
                <a:moveTo>
                  <a:pt x="0" y="0"/>
                </a:moveTo>
                <a:lnTo>
                  <a:pt x="413003" y="0"/>
                </a:lnTo>
                <a:lnTo>
                  <a:pt x="413003" y="493656"/>
                </a:lnTo>
                <a:lnTo>
                  <a:pt x="0" y="49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9655102" y="4114895"/>
            <a:ext cx="372256" cy="396979"/>
          </a:xfrm>
          <a:custGeom>
            <a:avLst/>
            <a:gdLst/>
            <a:ahLst/>
            <a:cxnLst/>
            <a:rect l="l" t="t" r="r" b="b"/>
            <a:pathLst>
              <a:path w="372256" h="396979">
                <a:moveTo>
                  <a:pt x="0" y="0"/>
                </a:moveTo>
                <a:lnTo>
                  <a:pt x="372256" y="0"/>
                </a:lnTo>
                <a:lnTo>
                  <a:pt x="372256" y="396979"/>
                </a:lnTo>
                <a:lnTo>
                  <a:pt x="0" y="396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9585417" y="5520603"/>
            <a:ext cx="474993" cy="489683"/>
          </a:xfrm>
          <a:custGeom>
            <a:avLst/>
            <a:gdLst/>
            <a:ahLst/>
            <a:cxnLst/>
            <a:rect l="l" t="t" r="r" b="b"/>
            <a:pathLst>
              <a:path w="474993" h="489683">
                <a:moveTo>
                  <a:pt x="0" y="0"/>
                </a:moveTo>
                <a:lnTo>
                  <a:pt x="474993" y="0"/>
                </a:lnTo>
                <a:lnTo>
                  <a:pt x="474993" y="489683"/>
                </a:lnTo>
                <a:lnTo>
                  <a:pt x="0" y="489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9600748" y="7051960"/>
            <a:ext cx="426912" cy="432807"/>
          </a:xfrm>
          <a:custGeom>
            <a:avLst/>
            <a:gdLst/>
            <a:ahLst/>
            <a:cxnLst/>
            <a:rect l="l" t="t" r="r" b="b"/>
            <a:pathLst>
              <a:path w="426912" h="432807">
                <a:moveTo>
                  <a:pt x="0" y="0"/>
                </a:moveTo>
                <a:lnTo>
                  <a:pt x="426913" y="0"/>
                </a:lnTo>
                <a:lnTo>
                  <a:pt x="426913" y="432807"/>
                </a:lnTo>
                <a:lnTo>
                  <a:pt x="0" y="432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3820290" y="2652568"/>
            <a:ext cx="396352" cy="397203"/>
          </a:xfrm>
          <a:custGeom>
            <a:avLst/>
            <a:gdLst/>
            <a:ahLst/>
            <a:cxnLst/>
            <a:rect l="l" t="t" r="r" b="b"/>
            <a:pathLst>
              <a:path w="396352" h="397203">
                <a:moveTo>
                  <a:pt x="0" y="0"/>
                </a:moveTo>
                <a:lnTo>
                  <a:pt x="396352" y="0"/>
                </a:lnTo>
                <a:lnTo>
                  <a:pt x="396352" y="397203"/>
                </a:lnTo>
                <a:lnTo>
                  <a:pt x="0" y="397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3818060" y="4029686"/>
            <a:ext cx="394912" cy="573620"/>
          </a:xfrm>
          <a:custGeom>
            <a:avLst/>
            <a:gdLst/>
            <a:ahLst/>
            <a:cxnLst/>
            <a:rect l="l" t="t" r="r" b="b"/>
            <a:pathLst>
              <a:path w="394912" h="573620">
                <a:moveTo>
                  <a:pt x="0" y="0"/>
                </a:moveTo>
                <a:lnTo>
                  <a:pt x="394912" y="0"/>
                </a:lnTo>
                <a:lnTo>
                  <a:pt x="394912" y="573620"/>
                </a:lnTo>
                <a:lnTo>
                  <a:pt x="0" y="5736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3823309" y="5552421"/>
            <a:ext cx="463532" cy="468370"/>
          </a:xfrm>
          <a:custGeom>
            <a:avLst/>
            <a:gdLst/>
            <a:ahLst/>
            <a:cxnLst/>
            <a:rect l="l" t="t" r="r" b="b"/>
            <a:pathLst>
              <a:path w="463532" h="468370">
                <a:moveTo>
                  <a:pt x="0" y="0"/>
                </a:moveTo>
                <a:lnTo>
                  <a:pt x="463532" y="0"/>
                </a:lnTo>
                <a:lnTo>
                  <a:pt x="463532" y="468370"/>
                </a:lnTo>
                <a:lnTo>
                  <a:pt x="0" y="468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3751733" y="6991763"/>
            <a:ext cx="526950" cy="506514"/>
          </a:xfrm>
          <a:custGeom>
            <a:avLst/>
            <a:gdLst/>
            <a:ahLst/>
            <a:cxnLst/>
            <a:rect l="l" t="t" r="r" b="b"/>
            <a:pathLst>
              <a:path w="526950" h="506514">
                <a:moveTo>
                  <a:pt x="0" y="0"/>
                </a:moveTo>
                <a:lnTo>
                  <a:pt x="526950" y="0"/>
                </a:lnTo>
                <a:lnTo>
                  <a:pt x="526950" y="506514"/>
                </a:lnTo>
                <a:lnTo>
                  <a:pt x="0" y="506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1197445" y="2533897"/>
            <a:ext cx="733269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25"/>
              </a:lnSpc>
            </a:pPr>
            <a:r>
              <a:rPr lang="en-US" sz="7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TECHNOLOGIES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97445" y="5814626"/>
            <a:ext cx="6674699" cy="53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7"/>
              </a:lnSpc>
            </a:pPr>
            <a:r>
              <a:rPr lang="en-US" sz="14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Our platform leverages modern web technologies, AI services, and security tools to deliver a robust skill-based employment solution.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49754" y="2723136"/>
            <a:ext cx="2723367" cy="1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3"/>
              </a:lnSpc>
              <a:spcBef>
                <a:spcPct val="0"/>
              </a:spcBef>
            </a:pPr>
            <a:r>
              <a:rPr lang="en-US" sz="120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249754" y="4173233"/>
            <a:ext cx="2723367" cy="1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3"/>
              </a:lnSpc>
              <a:spcBef>
                <a:spcPct val="0"/>
              </a:spcBef>
            </a:pPr>
            <a:r>
              <a:rPr lang="en-US" sz="120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405956" y="2723136"/>
            <a:ext cx="2723367" cy="1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3"/>
              </a:lnSpc>
              <a:spcBef>
                <a:spcPct val="0"/>
              </a:spcBef>
            </a:pPr>
            <a:r>
              <a:rPr lang="en-US" sz="120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HTML5, CSS3, JS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49754" y="5634377"/>
            <a:ext cx="2723367" cy="1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3"/>
              </a:lnSpc>
              <a:spcBef>
                <a:spcPct val="0"/>
              </a:spcBef>
            </a:pPr>
            <a:r>
              <a:rPr lang="en-US" sz="120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Database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49754" y="7106265"/>
            <a:ext cx="2723367" cy="1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3"/>
              </a:lnSpc>
              <a:spcBef>
                <a:spcPct val="0"/>
              </a:spcBef>
            </a:pPr>
            <a:r>
              <a:rPr lang="en-US" sz="120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Services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405956" y="4173233"/>
            <a:ext cx="2723367" cy="1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3"/>
              </a:lnSpc>
              <a:spcBef>
                <a:spcPct val="0"/>
              </a:spcBef>
            </a:pPr>
            <a:r>
              <a:rPr lang="en-US" sz="120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Bootstrap 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405956" y="5580088"/>
            <a:ext cx="2723367" cy="1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3"/>
              </a:lnSpc>
              <a:spcBef>
                <a:spcPct val="0"/>
              </a:spcBef>
            </a:pPr>
            <a:r>
              <a:rPr lang="en-US" sz="120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PHP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405956" y="7106265"/>
            <a:ext cx="1362856" cy="19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3"/>
              </a:lnSpc>
              <a:spcBef>
                <a:spcPct val="0"/>
              </a:spcBef>
            </a:pPr>
            <a:r>
              <a:rPr lang="en-US" sz="120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MySQL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060550" y="974766"/>
            <a:ext cx="3347196" cy="45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8"/>
              </a:lnSpc>
            </a:pPr>
            <a:r>
              <a:rPr lang="en-US" sz="26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TAMKEEN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060550" y="1405205"/>
            <a:ext cx="2743367" cy="2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54"/>
              </a:lnSpc>
            </a:pPr>
            <a:r>
              <a:rPr lang="en-US" sz="13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Skill-Based Employment</a:t>
            </a:r>
          </a:p>
        </p:txBody>
      </p:sp>
      <p:sp>
        <p:nvSpPr>
          <p:cNvPr id="69" name="Freeform 69"/>
          <p:cNvSpPr/>
          <p:nvPr/>
        </p:nvSpPr>
        <p:spPr>
          <a:xfrm rot="-5400000">
            <a:off x="6166950" y="-1281172"/>
            <a:ext cx="1922745" cy="3441154"/>
          </a:xfrm>
          <a:custGeom>
            <a:avLst/>
            <a:gdLst/>
            <a:ahLst/>
            <a:cxnLst/>
            <a:rect l="l" t="t" r="r" b="b"/>
            <a:pathLst>
              <a:path w="1922745" h="3441154">
                <a:moveTo>
                  <a:pt x="0" y="0"/>
                </a:moveTo>
                <a:lnTo>
                  <a:pt x="1922745" y="0"/>
                </a:lnTo>
                <a:lnTo>
                  <a:pt x="1922745" y="3441154"/>
                </a:lnTo>
                <a:lnTo>
                  <a:pt x="0" y="3441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FB6C5499-8EF2-42FA-4508-67E5026FF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3473" y="908470"/>
            <a:ext cx="886495" cy="886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B5E">
                <a:alpha val="100000"/>
              </a:srgbClr>
            </a:gs>
            <a:gs pos="100000">
              <a:srgbClr val="09133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160047" y="8905754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97445" y="1062449"/>
            <a:ext cx="651675" cy="651675"/>
          </a:xfrm>
          <a:custGeom>
            <a:avLst/>
            <a:gdLst/>
            <a:ahLst/>
            <a:cxnLst/>
            <a:rect l="l" t="t" r="r" b="b"/>
            <a:pathLst>
              <a:path w="651675" h="651675">
                <a:moveTo>
                  <a:pt x="0" y="0"/>
                </a:moveTo>
                <a:lnTo>
                  <a:pt x="651675" y="0"/>
                </a:lnTo>
                <a:lnTo>
                  <a:pt x="651675" y="651675"/>
                </a:lnTo>
                <a:lnTo>
                  <a:pt x="0" y="651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4309598" y="988084"/>
            <a:ext cx="1568783" cy="63735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99"/>
              </a:lnSpc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200150" y="2657475"/>
            <a:ext cx="9525000" cy="420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614"/>
              </a:lnSpc>
              <a:spcBef>
                <a:spcPct val="0"/>
              </a:spcBef>
            </a:pPr>
            <a:r>
              <a:rPr lang="en-US" sz="14614" b="1" u="none" strike="noStrik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</a:t>
            </a:r>
          </a:p>
        </p:txBody>
      </p:sp>
      <p:sp>
        <p:nvSpPr>
          <p:cNvPr id="20" name="Freeform 20"/>
          <p:cNvSpPr/>
          <p:nvPr/>
        </p:nvSpPr>
        <p:spPr>
          <a:xfrm rot="-7739019">
            <a:off x="10447301" y="6047057"/>
            <a:ext cx="2209843" cy="1807722"/>
          </a:xfrm>
          <a:custGeom>
            <a:avLst/>
            <a:gdLst/>
            <a:ahLst/>
            <a:cxnLst/>
            <a:rect l="l" t="t" r="r" b="b"/>
            <a:pathLst>
              <a:path w="2209843" h="1807722">
                <a:moveTo>
                  <a:pt x="0" y="0"/>
                </a:moveTo>
                <a:lnTo>
                  <a:pt x="2209842" y="0"/>
                </a:lnTo>
                <a:lnTo>
                  <a:pt x="2209842" y="1807722"/>
                </a:lnTo>
                <a:lnTo>
                  <a:pt x="0" y="1807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2421" b="-736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914837" y="7214880"/>
            <a:ext cx="9525000" cy="1198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72"/>
              </a:lnSpc>
              <a:spcBef>
                <a:spcPct val="0"/>
              </a:spcBef>
            </a:pPr>
            <a:r>
              <a:rPr lang="en-US" sz="8172" b="1" u="none" strike="noStrike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QUESTIONS?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821047" y="2488198"/>
            <a:ext cx="5537770" cy="5537770"/>
          </a:xfrm>
          <a:custGeom>
            <a:avLst/>
            <a:gdLst/>
            <a:ahLst/>
            <a:cxnLst/>
            <a:rect l="l" t="t" r="r" b="b"/>
            <a:pathLst>
              <a:path w="5537770" h="5537770">
                <a:moveTo>
                  <a:pt x="0" y="0"/>
                </a:moveTo>
                <a:lnTo>
                  <a:pt x="5537770" y="0"/>
                </a:lnTo>
                <a:lnTo>
                  <a:pt x="5537770" y="5537771"/>
                </a:lnTo>
                <a:lnTo>
                  <a:pt x="0" y="5537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 rot="-5400000">
            <a:off x="6166950" y="-1281172"/>
            <a:ext cx="1922745" cy="3441154"/>
          </a:xfrm>
          <a:custGeom>
            <a:avLst/>
            <a:gdLst/>
            <a:ahLst/>
            <a:cxnLst/>
            <a:rect l="l" t="t" r="r" b="b"/>
            <a:pathLst>
              <a:path w="1922745" h="3441154">
                <a:moveTo>
                  <a:pt x="0" y="0"/>
                </a:moveTo>
                <a:lnTo>
                  <a:pt x="1922745" y="0"/>
                </a:lnTo>
                <a:lnTo>
                  <a:pt x="1922745" y="3441154"/>
                </a:lnTo>
                <a:lnTo>
                  <a:pt x="0" y="3441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2060550" y="974766"/>
            <a:ext cx="3347196" cy="45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8"/>
              </a:lnSpc>
            </a:pPr>
            <a:r>
              <a:rPr lang="en-US" sz="267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TAMKEEN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60550" y="1395680"/>
            <a:ext cx="2743367" cy="74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4"/>
              </a:lnSpc>
            </a:pPr>
            <a:r>
              <a:rPr lang="en-US" sz="21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Skill-Based Employment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723AFD63-1A84-B631-7082-FFF62DA08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9279" y="855718"/>
            <a:ext cx="886495" cy="88649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EFB25DE-29CC-639E-ADF1-3830890B6A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9169" y="3487891"/>
            <a:ext cx="2663631" cy="2681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471</Words>
  <Application>Microsoft Office PowerPoint</Application>
  <PresentationFormat>Custom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Open Sans</vt:lpstr>
      <vt:lpstr>Open Sans Bold</vt:lpstr>
      <vt:lpstr>Canva Sans</vt:lpstr>
      <vt:lpstr>Helvetica World Bold</vt:lpstr>
      <vt:lpstr>Arial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Tamkeen 8-Slide Presentation Design Guide</dc:title>
  <cp:lastModifiedBy>TAMARA SAMI AHMAD ABUHUSSEIN</cp:lastModifiedBy>
  <cp:revision>2</cp:revision>
  <dcterms:created xsi:type="dcterms:W3CDTF">2006-08-16T00:00:00Z</dcterms:created>
  <dcterms:modified xsi:type="dcterms:W3CDTF">2026-06-02T16:38:12Z</dcterms:modified>
  <dc:identifier>DAHLZQ8kqEw</dc:identifier>
</cp:coreProperties>
</file>